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Pavlos. The project is called Sizing, Not Signaling. It's an option-implied cross-asset allocation rule using exchange-traded funds, or ETFs. The repository link is on the slide if you want to follow along.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for this project is simple. Can option-implied volatility help me size risk across a multi-asset portfolio? In my demo project, I tested whether option-implied signals could predict direction. They worked in-sample, but failed out-of-sample. Here I use the same data, but the goal is different. Implied volatility decides how big each position should be, not which way prices will go. The preview is on the right. The strategy turns one million dollars into 1.48 million with a worst drawdown of -14.5%. The equal-weight benchmark on the same eight funds ends higher at 2.64 million, but loses about 45% at its worst.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universe is eight liquid US-listed exchange-traded funds. They cover large-cap equity through SPY — the S&amp;P 500 fund. Small caps through IWM — the iShares Russell 2000. Developed international markets through EFA — the iShares MSCI EAFE fund. Emerging markets through EEM — the iShares MSCI Emerging Markets fund. The technology sector through XLK. The financials sector through XLF. Gold through GLD — the SPDR Gold Trust. And long-duration Treasuries through TLT — the iShares 20-Plus Year Treasury Bond fund. I picked the single largest fund by assets under management for each slot, fixed as of end-2017. The selection was frozen before I looked at any out-of-sample data, so I didn't pick winners with hindsight.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mechanic is position sizing. The formula on the slide says each leg's weight is proportional to a volatility target and a signal, scaled by a regime multiplier, divided by that asset's implied volatility. In plain words: when the option market prices high risk on an asset, I take a smaller position. When it prices low risk, I take a larger position. Every leg ends up contributing about the same dollar risk — not the same dollar capital. This is standard risk parity, but I use implied volatility instead of historical volatility, because implied volatility is forward-looking. It tells me what the market is pricing for risk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mechanic is a macro stress gate. I build a composite stress signal from two inputs. VIX — the Chicago Board Options Exchange equity volatility index. And the Chicago Federal Reserve's National Financial Conditions Index, often shortened to NFCI. I use that composite to label each day as one of four regimes. Calm days run at 1.5 times gross exposure. Normal days, which are about 62% of the sample, run at 1.0. Stress days at half. Crisis days, the book is off. So the gate scales the total book. The first mechanic still decides how that total is distributed across the eight funds. The practical effect is the strategy was effectively flat through 2008-09 and through March 2020. That's where most of the drawdown reduction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Discipline is the whole point of this slide. Every parameter — the volatility target, the gross exposure cap, the regime thresholds, the regime multipliers, the drawdown kill-switch — was tuned only on the 2008 to 2017 window. Then I saved them to a frozen specification file at end-2017 and never changed them again. So the 2018 to 2024 results are a real out-of-sample test of a fixed rule. The numbers: in-sample Sharpe ratio of 0.47 with an 11% drawdown. Out-of-sample Sharpe drops to 0.28 with a 14.5% drawdown. Performance decays — that's expected — but it stays 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One million dollars of starting capital grows to 1.48 million. The benchmark — a daily-rebalanced equal-weight portfolio of the same eight funds — ends at 2.64 million. So the strategy underperforms by about 1.16 million in terminal wealth. The trade-off is in the drawdown column. My worst drawdown is -14.5%. The benchmark's is -45%. About a third of the depth. Annualised volatility is 6.4% versus 16.9% — a much smoother ride. Sharpe ratios are basically tied at 0.40 and 0.42. So I'm not winning on returns. I'm giving up returns in exchange for risk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held-out validation. The point estimates are 0.47 in-sample and 0.28 out-of-sample. The violin shapes show what happens if I resample the daily returns with replacement and recompute the Sharpe ratio a thousand times. They give me a confidence interval around each estimate. The 5 to 95 percent intervals overlap. In-sample runs roughly from minus 0.14 to plus 0.99. Out-of-sample runs from minus 0.33 to plus 0.98. Each point estimate sits inside the other window's interval. That doesn't prove the strategy isn't overfit, but it rules out a sharp collapse. The decay is moderate, not 'the strategy stopped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Per-asset cumulative dollar P&amp;L on a one-million-dollar book. The picture is concentrated. The tech fund, XLK, contributed plus 140 thousand dollars. SPY — the S&amp;P 500 — contributed 111 thousand. GLD, the gold fund, added 91 thousand. That's notable, because gold's correlation with the equity legs is near zero, which is exactly the diversification value you want. The financials sector, XLF, and small caps, IWM, added the next tier — about 68 and 59 thousand. The international equity funds — EFA for developed markets and EEM for emerging markets — contributed slightly negative on a risk-sized basis. TLT, the long-duration Treasury fund, added a small positive. So the returns came from US equity and gold. International exposures didn't pay over this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panel is the composite stress index with the macro events labelled. The global financial crisis peak in 2008. The US sovereign credit downgrade in 2011. The China growth shock in 2015. The February 2018 volatility spike known as Volmageddon. The COVID crash in March 2020. The 2022 Federal Reserve rate-hike cycle. And the Silicon Valley Bank failure in March 2023. The middle panel is the gross multiplier through time. You can see it going to zero through the worst of 2008-09 and through March 2020. On the right are the average daily returns by regime. Calm days average plus 8 basis points — about 8 hundredths of a percent. Normal days are roughly flat. Stress days lose 9 basis points. Crisis days lose 4. So the gate doesn't turn losing regimes into winners. It shrinks the position in regimes where the book would otherwise lose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First, sizing beat signaling. The same option data that failed as a directional predictor in my demo worked as a risk-sizing input here. Out-of-sample Sharpe decayed but stayed positive. Second, smoother path, not higher returns. The strategy ends at 1.48 million versus 2.64 for the benchmark. But the drawdown is a third of the size, and the volatility is roughly a third of the size. Useful for an allocator that cares about path. Third, the gate did its job. Most of the drawdown reduction comes from scaling exposure in stress, not from picking better assets.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The universe is fixed at end-2017 and not refreshed. Weekly rebalance is a design choice. Four discrete regime buckets is simple — a smoother exposure function would be a natural extension. The crisis bucket has only 52 observations, so those statistics are descriptive rather than properly estimated. On readings: I drew on Harvey and Liu for backtesting discipline and multiple-testing concerns, and on the Pacific Investment Management Company paper from 2013 for the instability of cross-asset correlations across regimes. Thank you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paulgiann/finm33150-final-project"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paulgiann/finm33150-final-project"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3"/>
        </a:solidFill>
      </p:bgPr>
    </p:bg>
    <p:spTree>
      <p:nvGrpSpPr>
        <p:cNvPr id="1" name=""/>
        <p:cNvGrpSpPr/>
        <p:nvPr/>
      </p:nvGrpSpPr>
      <p:grpSpPr>
        <a:xfrm>
          <a:off x="0" y="0"/>
          <a:ext cx="0" cy="0"/>
          <a:chOff x="0" y="0"/>
          <a:chExt cx="0" cy="0"/>
        </a:xfrm>
      </p:grpSpPr>
      <p:sp>
        <p:nvSpPr>
          <p:cNvPr id="2" name="Shape 0"/>
          <p:cNvSpPr/>
          <p:nvPr/>
        </p:nvSpPr>
        <p:spPr>
          <a:xfrm>
            <a:off x="457200" y="1371600"/>
            <a:ext cx="1097280" cy="45720"/>
          </a:xfrm>
          <a:prstGeom prst="rect">
            <a:avLst/>
          </a:prstGeom>
          <a:solidFill>
            <a:srgbClr val="F4B400"/>
          </a:solidFill>
          <a:ln w="12700">
            <a:solidFill>
              <a:srgbClr val="F4B400"/>
            </a:solidFill>
            <a:prstDash val="solid"/>
          </a:ln>
        </p:spPr>
      </p:sp>
      <p:sp>
        <p:nvSpPr>
          <p:cNvPr id="3" name="Text 1"/>
          <p:cNvSpPr/>
          <p:nvPr/>
        </p:nvSpPr>
        <p:spPr>
          <a:xfrm>
            <a:off x="457200" y="1554480"/>
            <a:ext cx="8229600" cy="960120"/>
          </a:xfrm>
          <a:prstGeom prst="rect">
            <a:avLst/>
          </a:prstGeom>
          <a:noFill/>
          <a:ln/>
        </p:spPr>
        <p:txBody>
          <a:bodyPr wrap="square" lIns="0" tIns="0" rIns="0" bIns="0"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Sizing, Not Signaling</a:t>
            </a:r>
            <a:endParaRPr lang="en-US" sz="5200" dirty="0"/>
          </a:p>
        </p:txBody>
      </p:sp>
      <p:sp>
        <p:nvSpPr>
          <p:cNvPr id="4" name="Text 2"/>
          <p:cNvSpPr/>
          <p:nvPr/>
        </p:nvSpPr>
        <p:spPr>
          <a:xfrm>
            <a:off x="457200" y="2514600"/>
            <a:ext cx="8229600" cy="502920"/>
          </a:xfrm>
          <a:prstGeom prst="rect">
            <a:avLst/>
          </a:prstGeom>
          <a:noFill/>
          <a:ln/>
        </p:spPr>
        <p:txBody>
          <a:bodyPr wrap="square" lIns="0" tIns="0" rIns="0" bIns="0" rtlCol="0" anchor="ctr"/>
          <a:lstStyle/>
          <a:p>
            <a:pPr indent="0" marL="0">
              <a:buNone/>
            </a:pPr>
            <a:r>
              <a:rPr lang="en-US" sz="2200" i="1" dirty="0">
                <a:solidFill>
                  <a:srgbClr val="F4B400"/>
                </a:solidFill>
                <a:latin typeface="Calibri" pitchFamily="34" charset="0"/>
                <a:ea typeface="Calibri" pitchFamily="34" charset="-122"/>
                <a:cs typeface="Calibri" pitchFamily="34" charset="-120"/>
              </a:rPr>
              <a:t>An option-implied cross-asset allocation rule</a:t>
            </a:r>
            <a:endParaRPr lang="en-US" sz="2200" dirty="0"/>
          </a:p>
        </p:txBody>
      </p:sp>
      <p:sp>
        <p:nvSpPr>
          <p:cNvPr id="5" name="Text 3"/>
          <p:cNvSpPr/>
          <p:nvPr/>
        </p:nvSpPr>
        <p:spPr>
          <a:xfrm>
            <a:off x="457200" y="3611880"/>
            <a:ext cx="8229600" cy="9144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Pavlos Giannakis</a:t>
            </a:r>
            <a:endParaRPr lang="en-US" sz="1400" dirty="0"/>
          </a:p>
          <a:p>
            <a:pPr indent="0" marL="0">
              <a:buNone/>
            </a:pPr>
            <a:r>
              <a:rPr lang="en-US" sz="1400" dirty="0">
                <a:solidFill>
                  <a:srgbClr val="CADCFC"/>
                </a:solidFill>
                <a:latin typeface="Calibri" pitchFamily="34" charset="0"/>
                <a:ea typeface="Calibri" pitchFamily="34" charset="-122"/>
                <a:cs typeface="Calibri" pitchFamily="34" charset="-120"/>
              </a:rPr>
              <a:t>FINM 33150  Quantitative Trading Strategies  ·  Spring 2026</a:t>
            </a:r>
            <a:endParaRPr lang="en-US" sz="1400" dirty="0"/>
          </a:p>
          <a:p>
            <a:pPr indent="0" marL="0">
              <a:buNone/>
            </a:pPr>
            <a:r>
              <a:rPr lang="en-US" sz="1400" dirty="0">
                <a:solidFill>
                  <a:srgbClr val="CADCFC"/>
                </a:solidFill>
                <a:latin typeface="Calibri" pitchFamily="34" charset="0"/>
                <a:ea typeface="Calibri" pitchFamily="34" charset="-122"/>
                <a:cs typeface="Calibri" pitchFamily="34" charset="-120"/>
              </a:rPr>
              <a:t>Due: May 25, 2026  ·  11:59 PM CST</a:t>
            </a:r>
            <a:endParaRPr lang="en-US" sz="1400" dirty="0"/>
          </a:p>
        </p:txBody>
      </p:sp>
      <p:sp>
        <p:nvSpPr>
          <p:cNvPr id="6" name="Text 4">
            <a:hlinkClick r:id="rId1" tooltip=""/>
          </p:cNvPr>
          <p:cNvSpPr/>
          <p:nvPr/>
        </p:nvSpPr>
        <p:spPr>
          <a:xfrm>
            <a:off x="457200" y="4663440"/>
            <a:ext cx="8229600" cy="274320"/>
          </a:xfrm>
          <a:prstGeom prst="rect">
            <a:avLst/>
          </a:prstGeom>
          <a:noFill/>
          <a:ln/>
        </p:spPr>
        <p:txBody>
          <a:bodyPr wrap="square" lIns="0" tIns="0" rIns="0" bIns="0" rtlCol="0" anchor="ctr"/>
          <a:lstStyle/>
          <a:p>
            <a:pPr indent="0" marL="0">
              <a:buNone/>
            </a:pPr>
            <a:r>
              <a:rPr lang="en-US" sz="1100" i="1" u="sng" dirty="0">
                <a:solidFill>
                  <a:srgbClr val="F4B400"/>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github.com/paulgiann/finm33150-final-project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indent="0" marL="0">
              <a:buNone/>
            </a:pPr>
            <a:r>
              <a:rPr lang="en-US" sz="2800" b="1" dirty="0">
                <a:solidFill>
                  <a:srgbClr val="1A3A5F"/>
                </a:solidFill>
                <a:latin typeface="Calibri" pitchFamily="34" charset="0"/>
                <a:ea typeface="Calibri" pitchFamily="34" charset="-122"/>
                <a:cs typeface="Calibri" pitchFamily="34" charset="-120"/>
              </a:rPr>
              <a:t>The question</a:t>
            </a:r>
            <a:endParaRPr lang="en-US" sz="2800" dirty="0"/>
          </a:p>
        </p:txBody>
      </p:sp>
      <p:sp>
        <p:nvSpPr>
          <p:cNvPr id="3" name="Text 1"/>
          <p:cNvSpPr/>
          <p:nvPr/>
        </p:nvSpPr>
        <p:spPr>
          <a:xfrm>
            <a:off x="457200" y="713232"/>
            <a:ext cx="8229600" cy="292608"/>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What does this project actually test?</a:t>
            </a:r>
            <a:endParaRPr lang="en-US" sz="1300" dirty="0"/>
          </a:p>
        </p:txBody>
      </p:sp>
      <p:sp>
        <p:nvSpPr>
          <p:cNvPr id="4" name="Shape 2"/>
          <p:cNvSpPr/>
          <p:nvPr/>
        </p:nvSpPr>
        <p:spPr>
          <a:xfrm>
            <a:off x="457200" y="1280160"/>
            <a:ext cx="54864" cy="3291840"/>
          </a:xfrm>
          <a:prstGeom prst="rect">
            <a:avLst/>
          </a:prstGeom>
          <a:solidFill>
            <a:srgbClr val="1A3A5F"/>
          </a:solidFill>
          <a:ln w="12700">
            <a:solidFill>
              <a:srgbClr val="1A3A5F"/>
            </a:solidFill>
            <a:prstDash val="solid"/>
          </a:ln>
        </p:spPr>
      </p:sp>
      <p:sp>
        <p:nvSpPr>
          <p:cNvPr id="5" name="Text 3"/>
          <p:cNvSpPr/>
          <p:nvPr/>
        </p:nvSpPr>
        <p:spPr>
          <a:xfrm>
            <a:off x="685800" y="1325880"/>
            <a:ext cx="4023360" cy="1463040"/>
          </a:xfrm>
          <a:prstGeom prst="rect">
            <a:avLst/>
          </a:prstGeom>
          <a:noFill/>
          <a:ln/>
        </p:spPr>
        <p:txBody>
          <a:bodyPr wrap="square" lIns="0" tIns="0" rIns="0" bIns="0" rtlCol="0" anchor="ctr"/>
          <a:lstStyle/>
          <a:p>
            <a:pPr indent="0" marL="0">
              <a:buNone/>
            </a:pPr>
            <a:r>
              <a:rPr lang="en-US" sz="2200" b="1" dirty="0">
                <a:solidFill>
                  <a:srgbClr val="0C111D"/>
                </a:solidFill>
                <a:latin typeface="Calibri" pitchFamily="34" charset="0"/>
                <a:ea typeface="Calibri" pitchFamily="34" charset="-122"/>
                <a:cs typeface="Calibri" pitchFamily="34" charset="-120"/>
              </a:rPr>
              <a:t>Can option-implied volatility be useful for sizing risk</a:t>
            </a:r>
            <a:endParaRPr lang="en-US" sz="2200" dirty="0"/>
          </a:p>
          <a:p>
            <a:pPr indent="0" marL="0">
              <a:buNone/>
            </a:pPr>
            <a:r>
              <a:rPr lang="en-US" sz="2200" b="1" dirty="0">
                <a:solidFill>
                  <a:srgbClr val="0C111D"/>
                </a:solidFill>
                <a:latin typeface="Calibri" pitchFamily="34" charset="0"/>
                <a:ea typeface="Calibri" pitchFamily="34" charset="-122"/>
                <a:cs typeface="Calibri" pitchFamily="34" charset="-120"/>
              </a:rPr>
              <a:t>across a multi-asset portfolio?</a:t>
            </a:r>
            <a:endParaRPr lang="en-US" sz="2200" dirty="0"/>
          </a:p>
        </p:txBody>
      </p:sp>
      <p:sp>
        <p:nvSpPr>
          <p:cNvPr id="6" name="Text 4"/>
          <p:cNvSpPr/>
          <p:nvPr/>
        </p:nvSpPr>
        <p:spPr>
          <a:xfrm>
            <a:off x="685800" y="2834640"/>
            <a:ext cx="4023360" cy="1828800"/>
          </a:xfrm>
          <a:prstGeom prst="rect">
            <a:avLst/>
          </a:prstGeom>
          <a:noFill/>
          <a:ln/>
        </p:spPr>
        <p:txBody>
          <a:bodyPr wrap="square" lIns="0" tIns="0" rIns="0" bIns="0" rtlCol="0" anchor="ctr"/>
          <a:lstStyle/>
          <a:p>
            <a:pPr indent="0" marL="0">
              <a:buNone/>
            </a:pPr>
            <a:r>
              <a:rPr lang="en-US" sz="1300" dirty="0">
                <a:solidFill>
                  <a:srgbClr val="0C111D"/>
                </a:solidFill>
                <a:latin typeface="Calibri" pitchFamily="34" charset="0"/>
                <a:ea typeface="Calibri" pitchFamily="34" charset="-122"/>
                <a:cs typeface="Calibri" pitchFamily="34" charset="-120"/>
              </a:rPr>
              <a:t>Earlier demo project tested whether option-implied</a:t>
            </a:r>
            <a:endParaRPr lang="en-US" sz="1300" dirty="0"/>
          </a:p>
          <a:p>
            <a:pPr indent="0" marL="0">
              <a:buNone/>
            </a:pPr>
            <a:r>
              <a:rPr lang="en-US" sz="1300" dirty="0">
                <a:solidFill>
                  <a:srgbClr val="0C111D"/>
                </a:solidFill>
                <a:latin typeface="Calibri" pitchFamily="34" charset="0"/>
                <a:ea typeface="Calibri" pitchFamily="34" charset="-122"/>
                <a:cs typeface="Calibri" pitchFamily="34" charset="-120"/>
              </a:rPr>
              <a:t>term-structure </a:t>
            </a:r>
            <a:pPr indent="0" marL="0">
              <a:buNone/>
            </a:pPr>
            <a:r>
              <a:rPr lang="en-US" sz="1300" i="1" dirty="0">
                <a:solidFill>
                  <a:srgbClr val="0C111D"/>
                </a:solidFill>
                <a:latin typeface="Calibri" pitchFamily="34" charset="0"/>
                <a:ea typeface="Calibri" pitchFamily="34" charset="-122"/>
                <a:cs typeface="Calibri" pitchFamily="34" charset="-120"/>
              </a:rPr>
              <a:t>kinks</a:t>
            </a:r>
            <a:pPr indent="0" marL="0">
              <a:buNone/>
            </a:pPr>
            <a:r>
              <a:rPr lang="en-US" sz="1300" dirty="0">
                <a:solidFill>
                  <a:srgbClr val="0C111D"/>
                </a:solidFill>
                <a:latin typeface="Calibri" pitchFamily="34" charset="0"/>
                <a:ea typeface="Calibri" pitchFamily="34" charset="-122"/>
                <a:cs typeface="Calibri" pitchFamily="34" charset="-120"/>
              </a:rPr>
              <a:t> carried a directional signal.</a:t>
            </a:r>
            <a:endParaRPr lang="en-US" sz="1300" dirty="0"/>
          </a:p>
          <a:p>
            <a:pPr indent="0" marL="0">
              <a:buNone/>
            </a:pPr>
            <a:r>
              <a:rPr lang="en-US" sz="1300" dirty="0">
                <a:solidFill>
                  <a:srgbClr val="0C111D"/>
                </a:solidFill>
                <a:latin typeface="Calibri" pitchFamily="34" charset="0"/>
                <a:ea typeface="Calibri" pitchFamily="34" charset="-122"/>
                <a:cs typeface="Calibri" pitchFamily="34" charset="-120"/>
              </a:rPr>
              <a:t>They did in 2008-2017; they did not in 2018-2024.</a:t>
            </a:r>
            <a:endParaRPr lang="en-US" sz="1300" dirty="0"/>
          </a:p>
          <a:p>
            <a:pPr indent="0" marL="0">
              <a:buNone/>
            </a:pPr>
            <a:r>
              <a:rPr lang="en-US" sz="1300" dirty="0">
                <a:solidFill>
                  <a:srgbClr val="0C111D"/>
                </a:solidFill>
                <a:latin typeface="Calibri" pitchFamily="34" charset="0"/>
                <a:ea typeface="Calibri" pitchFamily="34" charset="-122"/>
                <a:cs typeface="Calibri" pitchFamily="34" charset="-120"/>
              </a:rPr>
              <a:t> </a:t>
            </a:r>
            <a:endParaRPr lang="en-US" sz="1300" dirty="0"/>
          </a:p>
          <a:p>
            <a:pPr indent="0" marL="0">
              <a:buNone/>
            </a:pPr>
            <a:r>
              <a:rPr lang="en-US" sz="1300" dirty="0">
                <a:solidFill>
                  <a:srgbClr val="0C111D"/>
                </a:solidFill>
                <a:latin typeface="Calibri" pitchFamily="34" charset="0"/>
                <a:ea typeface="Calibri" pitchFamily="34" charset="-122"/>
                <a:cs typeface="Calibri" pitchFamily="34" charset="-120"/>
              </a:rPr>
              <a:t>Here the data pipeline is reused, but the use case shifts:</a:t>
            </a:r>
            <a:endParaRPr lang="en-US" sz="1300" dirty="0"/>
          </a:p>
          <a:p>
            <a:pPr indent="0" marL="0">
              <a:buNone/>
            </a:pPr>
            <a:r>
              <a:rPr lang="en-US" sz="1300" dirty="0">
                <a:solidFill>
                  <a:srgbClr val="0C111D"/>
                </a:solidFill>
                <a:latin typeface="Calibri" pitchFamily="34" charset="0"/>
                <a:ea typeface="Calibri" pitchFamily="34" charset="-122"/>
                <a:cs typeface="Calibri" pitchFamily="34" charset="-120"/>
              </a:rPr>
              <a:t>implied vol is used to </a:t>
            </a:r>
            <a:pPr indent="0" marL="0">
              <a:buNone/>
            </a:pPr>
            <a:r>
              <a:rPr lang="en-US" sz="1300" b="1" dirty="0">
                <a:solidFill>
                  <a:srgbClr val="1A3A5F"/>
                </a:solidFill>
                <a:latin typeface="Calibri" pitchFamily="34" charset="0"/>
                <a:ea typeface="Calibri" pitchFamily="34" charset="-122"/>
                <a:cs typeface="Calibri" pitchFamily="34" charset="-120"/>
              </a:rPr>
              <a:t>size risk</a:t>
            </a:r>
            <a:pPr indent="0" marL="0">
              <a:buNone/>
            </a:pPr>
            <a:r>
              <a:rPr lang="en-US" sz="1300" dirty="0">
                <a:solidFill>
                  <a:srgbClr val="0C111D"/>
                </a:solidFill>
                <a:latin typeface="Calibri" pitchFamily="34" charset="0"/>
                <a:ea typeface="Calibri" pitchFamily="34" charset="-122"/>
                <a:cs typeface="Calibri" pitchFamily="34" charset="-120"/>
              </a:rPr>
              <a:t>, not to predict direction.</a:t>
            </a:r>
            <a:endParaRPr lang="en-US" sz="1300" dirty="0"/>
          </a:p>
        </p:txBody>
      </p:sp>
      <p:sp>
        <p:nvSpPr>
          <p:cNvPr id="7" name="Shape 5"/>
          <p:cNvSpPr/>
          <p:nvPr/>
        </p:nvSpPr>
        <p:spPr>
          <a:xfrm>
            <a:off x="5029200" y="1280160"/>
            <a:ext cx="3657600" cy="3291840"/>
          </a:xfrm>
          <a:prstGeom prst="rect">
            <a:avLst/>
          </a:prstGeom>
          <a:solidFill>
            <a:srgbClr val="F7F8FA"/>
          </a:solidFill>
          <a:ln w="6350">
            <a:solidFill>
              <a:srgbClr val="E5E7EB"/>
            </a:solidFill>
            <a:prstDash val="solid"/>
          </a:ln>
        </p:spPr>
      </p:sp>
      <p:sp>
        <p:nvSpPr>
          <p:cNvPr id="8" name="Shape 6"/>
          <p:cNvSpPr/>
          <p:nvPr/>
        </p:nvSpPr>
        <p:spPr>
          <a:xfrm>
            <a:off x="5029200" y="1280160"/>
            <a:ext cx="3657600" cy="73152"/>
          </a:xfrm>
          <a:prstGeom prst="rect">
            <a:avLst/>
          </a:prstGeom>
          <a:solidFill>
            <a:srgbClr val="F4B400"/>
          </a:solidFill>
          <a:ln w="12700">
            <a:solidFill>
              <a:srgbClr val="F4B400"/>
            </a:solidFill>
            <a:prstDash val="solid"/>
          </a:ln>
        </p:spPr>
      </p:sp>
      <p:sp>
        <p:nvSpPr>
          <p:cNvPr id="9" name="Text 7"/>
          <p:cNvSpPr/>
          <p:nvPr/>
        </p:nvSpPr>
        <p:spPr>
          <a:xfrm>
            <a:off x="5212080" y="1417320"/>
            <a:ext cx="3291840" cy="320040"/>
          </a:xfrm>
          <a:prstGeom prst="rect">
            <a:avLst/>
          </a:prstGeom>
          <a:noFill/>
          <a:ln/>
        </p:spPr>
        <p:txBody>
          <a:bodyPr wrap="square" lIns="0" tIns="0" rIns="0" bIns="0" rtlCol="0" anchor="ctr"/>
          <a:lstStyle/>
          <a:p>
            <a:pPr indent="0" marL="0">
              <a:buNone/>
            </a:pPr>
            <a:r>
              <a:rPr lang="en-US" sz="1400" b="1" dirty="0">
                <a:solidFill>
                  <a:srgbClr val="1A3A5F"/>
                </a:solidFill>
                <a:latin typeface="Calibri" pitchFamily="34" charset="0"/>
                <a:ea typeface="Calibri" pitchFamily="34" charset="-122"/>
                <a:cs typeface="Calibri" pitchFamily="34" charset="-120"/>
              </a:rPr>
              <a:t>Headline preview</a:t>
            </a:r>
            <a:endParaRPr lang="en-US" sz="1400" dirty="0"/>
          </a:p>
        </p:txBody>
      </p:sp>
      <p:sp>
        <p:nvSpPr>
          <p:cNvPr id="10" name="Text 8"/>
          <p:cNvSpPr/>
          <p:nvPr/>
        </p:nvSpPr>
        <p:spPr>
          <a:xfrm>
            <a:off x="5212080" y="1783080"/>
            <a:ext cx="3291840" cy="2743200"/>
          </a:xfrm>
          <a:prstGeom prst="rect">
            <a:avLst/>
          </a:prstGeom>
          <a:noFill/>
          <a:ln/>
        </p:spPr>
        <p:txBody>
          <a:bodyPr wrap="square" lIns="0" tIns="0" rIns="0" bIns="0" rtlCol="0" anchor="ctr"/>
          <a:lstStyle/>
          <a:p>
            <a:pPr indent="0" marL="0">
              <a:buNone/>
            </a:pPr>
            <a:r>
              <a:rPr lang="en-US" sz="1600" b="1" dirty="0">
                <a:solidFill>
                  <a:srgbClr val="1A3A5F"/>
                </a:solidFill>
                <a:latin typeface="Calibri" pitchFamily="34" charset="0"/>
                <a:ea typeface="Calibri" pitchFamily="34" charset="-122"/>
                <a:cs typeface="Calibri" pitchFamily="34" charset="-120"/>
              </a:rPr>
              <a:t>USD 1.00M  -&gt;  USD 1.48M</a:t>
            </a:r>
            <a:endParaRPr lang="en-US" sz="1300" dirty="0"/>
          </a:p>
          <a:p>
            <a:pPr indent="0" marL="0">
              <a:buNone/>
            </a:pPr>
            <a:r>
              <a:rPr lang="en-US" sz="400" dirty="0">
                <a:solidFill>
                  <a:srgbClr val="0C111D"/>
                </a:solidFill>
                <a:latin typeface="Calibri" pitchFamily="34" charset="0"/>
                <a:ea typeface="Calibri" pitchFamily="34" charset="-122"/>
                <a:cs typeface="Calibri" pitchFamily="34" charset="-120"/>
              </a:rPr>
              <a:t> </a:t>
            </a:r>
            <a:endParaRPr lang="en-US" sz="1300" dirty="0"/>
          </a:p>
          <a:p>
            <a:pPr indent="0" marL="0">
              <a:buNone/>
            </a:pPr>
            <a:r>
              <a:rPr lang="en-US" sz="1300" dirty="0">
                <a:solidFill>
                  <a:srgbClr val="0C111D"/>
                </a:solidFill>
                <a:latin typeface="Calibri" pitchFamily="34" charset="0"/>
                <a:ea typeface="Calibri" pitchFamily="34" charset="-122"/>
                <a:cs typeface="Calibri" pitchFamily="34" charset="-120"/>
              </a:rPr>
              <a:t>Max drawdown </a:t>
            </a:r>
            <a:pPr indent="0" marL="0">
              <a:buNone/>
            </a:pPr>
            <a:r>
              <a:rPr lang="en-US" sz="1300" b="1" dirty="0">
                <a:solidFill>
                  <a:srgbClr val="D4351C"/>
                </a:solidFill>
                <a:latin typeface="Calibri" pitchFamily="34" charset="0"/>
                <a:ea typeface="Calibri" pitchFamily="34" charset="-122"/>
                <a:cs typeface="Calibri" pitchFamily="34" charset="-120"/>
              </a:rPr>
              <a:t>-14.5%</a:t>
            </a:r>
            <a:pPr indent="0" marL="0">
              <a:buNone/>
            </a:pPr>
            <a:r>
              <a:rPr lang="en-US" sz="1300" dirty="0">
                <a:solidFill>
                  <a:srgbClr val="0C111D"/>
                </a:solidFill>
                <a:latin typeface="Calibri" pitchFamily="34" charset="0"/>
                <a:ea typeface="Calibri" pitchFamily="34" charset="-122"/>
                <a:cs typeface="Calibri" pitchFamily="34" charset="-120"/>
              </a:rPr>
              <a:t>  vs benchmark </a:t>
            </a:r>
            <a:pPr indent="0" marL="0">
              <a:buNone/>
            </a:pPr>
            <a:r>
              <a:rPr lang="en-US" sz="1300" dirty="0">
                <a:solidFill>
                  <a:srgbClr val="D4351C"/>
                </a:solidFill>
                <a:latin typeface="Calibri" pitchFamily="34" charset="0"/>
                <a:ea typeface="Calibri" pitchFamily="34" charset="-122"/>
                <a:cs typeface="Calibri" pitchFamily="34" charset="-120"/>
              </a:rPr>
              <a:t>-45.2%</a:t>
            </a:r>
            <a:endParaRPr lang="en-US" sz="1300" dirty="0"/>
          </a:p>
          <a:p>
            <a:pPr indent="0" marL="0">
              <a:buNone/>
            </a:pPr>
            <a:r>
              <a:rPr lang="en-US" sz="400" dirty="0">
                <a:solidFill>
                  <a:srgbClr val="0C111D"/>
                </a:solidFill>
                <a:latin typeface="Calibri" pitchFamily="34" charset="0"/>
                <a:ea typeface="Calibri" pitchFamily="34" charset="-122"/>
                <a:cs typeface="Calibri" pitchFamily="34" charset="-120"/>
              </a:rPr>
              <a:t> </a:t>
            </a:r>
            <a:endParaRPr lang="en-US" sz="1300" dirty="0"/>
          </a:p>
          <a:p>
            <a:pPr indent="0" marL="0">
              <a:buNone/>
            </a:pPr>
            <a:r>
              <a:rPr lang="en-US" sz="1300" dirty="0">
                <a:solidFill>
                  <a:srgbClr val="0C111D"/>
                </a:solidFill>
                <a:latin typeface="Calibri" pitchFamily="34" charset="0"/>
                <a:ea typeface="Calibri" pitchFamily="34" charset="-122"/>
                <a:cs typeface="Calibri" pitchFamily="34" charset="-120"/>
              </a:rPr>
              <a:t>Sharpe </a:t>
            </a:r>
            <a:pPr indent="0" marL="0">
              <a:buNone/>
            </a:pPr>
            <a:r>
              <a:rPr lang="en-US" sz="1300" b="1" dirty="0">
                <a:solidFill>
                  <a:srgbClr val="1B7C89"/>
                </a:solidFill>
                <a:latin typeface="Calibri" pitchFamily="34" charset="0"/>
                <a:ea typeface="Calibri" pitchFamily="34" charset="-122"/>
                <a:cs typeface="Calibri" pitchFamily="34" charset="-120"/>
              </a:rPr>
              <a:t>IS +0.47</a:t>
            </a:r>
            <a:pPr indent="0" marL="0">
              <a:buNone/>
            </a:pPr>
            <a:r>
              <a:rPr lang="en-US" sz="1300" dirty="0">
                <a:solidFill>
                  <a:srgbClr val="0C111D"/>
                </a:solidFill>
                <a:latin typeface="Calibri" pitchFamily="34" charset="0"/>
                <a:ea typeface="Calibri" pitchFamily="34" charset="-122"/>
                <a:cs typeface="Calibri" pitchFamily="34" charset="-120"/>
              </a:rPr>
              <a:t>  -&gt;  </a:t>
            </a:r>
            <a:pPr indent="0" marL="0">
              <a:buNone/>
            </a:pPr>
            <a:r>
              <a:rPr lang="en-US" sz="1300" b="1" dirty="0">
                <a:solidFill>
                  <a:srgbClr val="1B7C89"/>
                </a:solidFill>
                <a:latin typeface="Calibri" pitchFamily="34" charset="0"/>
                <a:ea typeface="Calibri" pitchFamily="34" charset="-122"/>
                <a:cs typeface="Calibri" pitchFamily="34" charset="-120"/>
              </a:rPr>
              <a:t>OOS +0.28</a:t>
            </a:r>
            <a:endParaRPr lang="en-US" sz="1300" dirty="0"/>
          </a:p>
          <a:p>
            <a:pPr indent="0" marL="0">
              <a:buNone/>
            </a:pPr>
            <a:r>
              <a:rPr lang="en-US" sz="400" dirty="0">
                <a:solidFill>
                  <a:srgbClr val="0C111D"/>
                </a:solidFill>
                <a:latin typeface="Calibri" pitchFamily="34" charset="0"/>
                <a:ea typeface="Calibri" pitchFamily="34" charset="-122"/>
                <a:cs typeface="Calibri" pitchFamily="34" charset="-120"/>
              </a:rPr>
              <a:t> </a:t>
            </a:r>
            <a:endParaRPr lang="en-US" sz="1300" dirty="0"/>
          </a:p>
          <a:p>
            <a:pPr indent="0" marL="0">
              <a:buNone/>
            </a:pPr>
            <a:r>
              <a:rPr lang="en-US" sz="1300" i="1" dirty="0">
                <a:solidFill>
                  <a:srgbClr val="64748B"/>
                </a:solidFill>
                <a:latin typeface="Calibri" pitchFamily="34" charset="0"/>
                <a:ea typeface="Calibri" pitchFamily="34" charset="-122"/>
                <a:cs typeface="Calibri" pitchFamily="34" charset="-120"/>
              </a:rPr>
              <a:t>Lower upside, smoother path.</a:t>
            </a:r>
            <a:endParaRPr lang="en-US" sz="1300" dirty="0"/>
          </a:p>
        </p:txBody>
      </p:sp>
      <p:sp>
        <p:nvSpPr>
          <p:cNvPr id="11" name="Text 9"/>
          <p:cNvSpPr/>
          <p:nvPr/>
        </p:nvSpPr>
        <p:spPr>
          <a:xfrm>
            <a:off x="457200" y="4846320"/>
            <a:ext cx="68580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Sizing, Not Signaling  ·  Pavlos Giannakis  ·  FINM 33150 (Spring 2026)</a:t>
            </a:r>
            <a:endParaRPr lang="en-US" sz="900" dirty="0"/>
          </a:p>
        </p:txBody>
      </p:sp>
      <p:sp>
        <p:nvSpPr>
          <p:cNvPr id="12" name="Text 10"/>
          <p:cNvSpPr/>
          <p:nvPr/>
        </p:nvSpPr>
        <p:spPr>
          <a:xfrm>
            <a:off x="8229600" y="4846320"/>
            <a:ext cx="64008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 /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indent="0" marL="0">
              <a:buNone/>
            </a:pPr>
            <a:r>
              <a:rPr lang="en-US" sz="2800" b="1" dirty="0">
                <a:solidFill>
                  <a:srgbClr val="1A3A5F"/>
                </a:solidFill>
                <a:latin typeface="Calibri" pitchFamily="34" charset="0"/>
                <a:ea typeface="Calibri" pitchFamily="34" charset="-122"/>
                <a:cs typeface="Calibri" pitchFamily="34" charset="-120"/>
              </a:rPr>
              <a:t>The universe</a:t>
            </a:r>
            <a:endParaRPr lang="en-US" sz="2800" dirty="0"/>
          </a:p>
        </p:txBody>
      </p:sp>
      <p:sp>
        <p:nvSpPr>
          <p:cNvPr id="3" name="Text 1"/>
          <p:cNvSpPr/>
          <p:nvPr/>
        </p:nvSpPr>
        <p:spPr>
          <a:xfrm>
            <a:off x="457200" y="713232"/>
            <a:ext cx="8229600" cy="292608"/>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Eight liquid US-listed ETFs, selection frozen at end-2017</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822960"/>
                <a:gridCol w="2560320"/>
                <a:gridCol w="3383280"/>
                <a:gridCol w="1463040"/>
              </a:tblGrid>
              <a:tr h="29260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Ticker</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A3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Asset class</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A3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Issuer</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A3A5F"/>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AUM (2017-12-31)</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A3A5F"/>
                    </a:solidFill>
                  </a:tcPr>
                </a:tc>
              </a:tr>
              <a:tr h="292608">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SPY</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US large-cap equity</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SPDR S&amp;P 500 Trust</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200" dirty="0">
                          <a:solidFill>
                            <a:srgbClr val="000000"/>
                          </a:solidFill>
                          <a:latin typeface="Calibri" pitchFamily="34" charset="0"/>
                          <a:ea typeface="Calibri" pitchFamily="34" charset="-122"/>
                          <a:cs typeface="Calibri" pitchFamily="34" charset="-120"/>
                        </a:rPr>
                        <a:t>USD 280B</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92608">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IWM</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US small-cap equity</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iShares Russell 2000</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200" dirty="0">
                          <a:solidFill>
                            <a:srgbClr val="000000"/>
                          </a:solidFill>
                          <a:latin typeface="Calibri" pitchFamily="34" charset="0"/>
                          <a:ea typeface="Calibri" pitchFamily="34" charset="-122"/>
                          <a:cs typeface="Calibri" pitchFamily="34" charset="-120"/>
                        </a:rPr>
                        <a:t>USD 45B</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92608">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EFA</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Developed ex-US equity</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iShares MSCI EAFE</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200" dirty="0">
                          <a:solidFill>
                            <a:srgbClr val="000000"/>
                          </a:solidFill>
                          <a:latin typeface="Calibri" pitchFamily="34" charset="0"/>
                          <a:ea typeface="Calibri" pitchFamily="34" charset="-122"/>
                          <a:cs typeface="Calibri" pitchFamily="34" charset="-120"/>
                        </a:rPr>
                        <a:t>USD 80B</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92608">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EEM</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Emerging-markets equity</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iShares MSCI Emerging Markets</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200" dirty="0">
                          <a:solidFill>
                            <a:srgbClr val="000000"/>
                          </a:solidFill>
                          <a:latin typeface="Calibri" pitchFamily="34" charset="0"/>
                          <a:ea typeface="Calibri" pitchFamily="34" charset="-122"/>
                          <a:cs typeface="Calibri" pitchFamily="34" charset="-120"/>
                        </a:rPr>
                        <a:t>USD 35B</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92608">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XLK</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US technology sector</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Select Sector SPDR XLK</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200" dirty="0">
                          <a:solidFill>
                            <a:srgbClr val="000000"/>
                          </a:solidFill>
                          <a:latin typeface="Calibri" pitchFamily="34" charset="0"/>
                          <a:ea typeface="Calibri" pitchFamily="34" charset="-122"/>
                          <a:cs typeface="Calibri" pitchFamily="34" charset="-120"/>
                        </a:rPr>
                        <a:t>USD 19B</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92608">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XLF</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US financials sector</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Select Sector SPDR XLF</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200" dirty="0">
                          <a:solidFill>
                            <a:srgbClr val="000000"/>
                          </a:solidFill>
                          <a:latin typeface="Calibri" pitchFamily="34" charset="0"/>
                          <a:ea typeface="Calibri" pitchFamily="34" charset="-122"/>
                          <a:cs typeface="Calibri" pitchFamily="34" charset="-120"/>
                        </a:rPr>
                        <a:t>USD 31B</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92608">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GLD</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Gold</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SPDR Gold Trust</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200" dirty="0">
                          <a:solidFill>
                            <a:srgbClr val="000000"/>
                          </a:solidFill>
                          <a:latin typeface="Calibri" pitchFamily="34" charset="0"/>
                          <a:ea typeface="Calibri" pitchFamily="34" charset="-122"/>
                          <a:cs typeface="Calibri" pitchFamily="34" charset="-120"/>
                        </a:rPr>
                        <a:t>USD 34B</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92608">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TLT</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US 20Y+ Treasuries</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iShares 20+ Year Treasury Bond</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1200" dirty="0">
                          <a:solidFill>
                            <a:srgbClr val="000000"/>
                          </a:solidFill>
                          <a:latin typeface="Calibri" pitchFamily="34" charset="0"/>
                          <a:ea typeface="Calibri" pitchFamily="34" charset="-122"/>
                          <a:cs typeface="Calibri" pitchFamily="34" charset="-120"/>
                        </a:rPr>
                        <a:t>USD 8B</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5" name="Text 2"/>
          <p:cNvSpPr/>
          <p:nvPr/>
        </p:nvSpPr>
        <p:spPr>
          <a:xfrm>
            <a:off x="457200" y="4160520"/>
            <a:ext cx="8229600" cy="457200"/>
          </a:xfrm>
          <a:prstGeom prst="rect">
            <a:avLst/>
          </a:prstGeom>
          <a:noFill/>
          <a:ln/>
        </p:spPr>
        <p:txBody>
          <a:bodyPr wrap="square" lIns="0" tIns="0" rIns="0" bIns="0" rtlCol="0" anchor="ctr"/>
          <a:lstStyle/>
          <a:p>
            <a:pPr indent="0" marL="0">
              <a:buNone/>
            </a:pPr>
            <a:r>
              <a:rPr lang="en-US" sz="1200" b="1" dirty="0">
                <a:solidFill>
                  <a:srgbClr val="1A3A5F"/>
                </a:solidFill>
                <a:latin typeface="Calibri" pitchFamily="34" charset="0"/>
                <a:ea typeface="Calibri" pitchFamily="34" charset="-122"/>
                <a:cs typeface="Calibri" pitchFamily="34" charset="-120"/>
              </a:rPr>
              <a:t>Selection rule: </a:t>
            </a:r>
            <a:pPr indent="0" marL="0">
              <a:buNone/>
            </a:pPr>
            <a:r>
              <a:rPr lang="en-US" sz="1200" dirty="0">
                <a:solidFill>
                  <a:srgbClr val="0C111D"/>
                </a:solidFill>
                <a:latin typeface="Calibri" pitchFamily="34" charset="0"/>
                <a:ea typeface="Calibri" pitchFamily="34" charset="-122"/>
                <a:cs typeface="Calibri" pitchFamily="34" charset="-120"/>
              </a:rPr>
              <a:t>largest-AUM US-listed ETF per slot as of 2017-12-31. </a:t>
            </a:r>
            <a:pPr indent="0" marL="0">
              <a:buNone/>
            </a:pPr>
            <a:r>
              <a:rPr lang="en-US" sz="1200" i="1" dirty="0">
                <a:solidFill>
                  <a:srgbClr val="64748B"/>
                </a:solidFill>
                <a:latin typeface="Calibri" pitchFamily="34" charset="0"/>
                <a:ea typeface="Calibri" pitchFamily="34" charset="-122"/>
                <a:cs typeface="Calibri" pitchFamily="34" charset="-120"/>
              </a:rPr>
              <a:t>Frozen before any OOS data is touched, so the selection cannot exploit later performance.</a:t>
            </a:r>
            <a:endParaRPr lang="en-US" sz="1200" dirty="0"/>
          </a:p>
        </p:txBody>
      </p:sp>
      <p:sp>
        <p:nvSpPr>
          <p:cNvPr id="6" name="Text 3"/>
          <p:cNvSpPr/>
          <p:nvPr/>
        </p:nvSpPr>
        <p:spPr>
          <a:xfrm>
            <a:off x="457200" y="4846320"/>
            <a:ext cx="68580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Sizing, Not Signaling  ·  Pavlos Giannakis  ·  FINM 33150 (Spring 2026)</a:t>
            </a:r>
            <a:endParaRPr lang="en-US" sz="900" dirty="0"/>
          </a:p>
        </p:txBody>
      </p:sp>
      <p:sp>
        <p:nvSpPr>
          <p:cNvPr id="7" name="Text 4"/>
          <p:cNvSpPr/>
          <p:nvPr/>
        </p:nvSpPr>
        <p:spPr>
          <a:xfrm>
            <a:off x="8229600" y="4846320"/>
            <a:ext cx="64008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 /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indent="0" marL="0">
              <a:buNone/>
            </a:pPr>
            <a:r>
              <a:rPr lang="en-US" sz="2800" b="1" dirty="0">
                <a:solidFill>
                  <a:srgbClr val="1A3A5F"/>
                </a:solidFill>
                <a:latin typeface="Calibri" pitchFamily="34" charset="0"/>
                <a:ea typeface="Calibri" pitchFamily="34" charset="-122"/>
                <a:cs typeface="Calibri" pitchFamily="34" charset="-120"/>
              </a:rPr>
              <a:t>Mechanic 1: implied-volatility sizing</a:t>
            </a:r>
            <a:endParaRPr lang="en-US" sz="2800" dirty="0"/>
          </a:p>
        </p:txBody>
      </p:sp>
      <p:sp>
        <p:nvSpPr>
          <p:cNvPr id="3" name="Text 1"/>
          <p:cNvSpPr/>
          <p:nvPr/>
        </p:nvSpPr>
        <p:spPr>
          <a:xfrm>
            <a:off x="457200" y="713232"/>
            <a:ext cx="8229600" cy="292608"/>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Each sleeve scaled inversely to its 30-day ATM IV</a:t>
            </a:r>
            <a:endParaRPr lang="en-US" sz="1300" dirty="0"/>
          </a:p>
        </p:txBody>
      </p:sp>
      <p:sp>
        <p:nvSpPr>
          <p:cNvPr id="4" name="Shape 2"/>
          <p:cNvSpPr/>
          <p:nvPr/>
        </p:nvSpPr>
        <p:spPr>
          <a:xfrm>
            <a:off x="1371600" y="1280160"/>
            <a:ext cx="6400800" cy="1097280"/>
          </a:xfrm>
          <a:prstGeom prst="rect">
            <a:avLst/>
          </a:prstGeom>
          <a:solidFill>
            <a:srgbClr val="F7F8FA"/>
          </a:solidFill>
          <a:ln w="6350">
            <a:solidFill>
              <a:srgbClr val="E5E7EB"/>
            </a:solidFill>
            <a:prstDash val="solid"/>
          </a:ln>
        </p:spPr>
      </p:sp>
      <p:sp>
        <p:nvSpPr>
          <p:cNvPr id="5" name="Shape 3"/>
          <p:cNvSpPr/>
          <p:nvPr/>
        </p:nvSpPr>
        <p:spPr>
          <a:xfrm>
            <a:off x="1371600" y="1280160"/>
            <a:ext cx="73152" cy="1097280"/>
          </a:xfrm>
          <a:prstGeom prst="rect">
            <a:avLst/>
          </a:prstGeom>
          <a:solidFill>
            <a:srgbClr val="1A3A5F"/>
          </a:solidFill>
          <a:ln w="12700">
            <a:solidFill>
              <a:srgbClr val="1A3A5F"/>
            </a:solidFill>
            <a:prstDash val="solid"/>
          </a:ln>
        </p:spPr>
      </p:sp>
      <p:sp>
        <p:nvSpPr>
          <p:cNvPr id="6" name="Text 4"/>
          <p:cNvSpPr/>
          <p:nvPr/>
        </p:nvSpPr>
        <p:spPr>
          <a:xfrm>
            <a:off x="1600200" y="1417320"/>
            <a:ext cx="5943600" cy="457200"/>
          </a:xfrm>
          <a:prstGeom prst="rect">
            <a:avLst/>
          </a:prstGeom>
          <a:noFill/>
          <a:ln/>
        </p:spPr>
        <p:txBody>
          <a:bodyPr wrap="square" lIns="0" tIns="0" rIns="0" bIns="0" rtlCol="0" anchor="ctr"/>
          <a:lstStyle/>
          <a:p>
            <a:pPr algn="ctr" indent="0" marL="0">
              <a:buNone/>
            </a:pPr>
            <a:r>
              <a:rPr lang="en-US" sz="2200" b="1" i="1" dirty="0">
                <a:solidFill>
                  <a:srgbClr val="1A3A5F"/>
                </a:solidFill>
                <a:latin typeface="Cambria" pitchFamily="34" charset="0"/>
                <a:ea typeface="Cambria" pitchFamily="34" charset="-122"/>
                <a:cs typeface="Cambria" pitchFamily="34" charset="-120"/>
              </a:rPr>
              <a:t>w</a:t>
            </a:r>
            <a:pPr algn="ctr" indent="0" marL="0">
              <a:buNone/>
            </a:pPr>
            <a:r>
              <a:rPr lang="en-US" sz="1200" b="1" i="1" dirty="0">
                <a:solidFill>
                  <a:srgbClr val="1A3A5F"/>
                </a:solidFill>
                <a:latin typeface="Cambria" pitchFamily="34" charset="0"/>
                <a:ea typeface="Cambria" pitchFamily="34" charset="-122"/>
                <a:cs typeface="Cambria" pitchFamily="34" charset="-120"/>
              </a:rPr>
              <a:t>i,t</a:t>
            </a:r>
            <a:pPr algn="ctr" indent="0" marL="0">
              <a:buNone/>
            </a:pPr>
            <a:r>
              <a:rPr lang="en-US" sz="2200" b="1" dirty="0">
                <a:solidFill>
                  <a:srgbClr val="1A3A5F"/>
                </a:solidFill>
                <a:latin typeface="Cambria" pitchFamily="34" charset="0"/>
                <a:ea typeface="Cambria" pitchFamily="34" charset="-122"/>
                <a:cs typeface="Cambria" pitchFamily="34" charset="-120"/>
              </a:rPr>
              <a:t>  =  </a:t>
            </a:r>
            <a:pPr algn="ctr" indent="0" marL="0">
              <a:buNone/>
            </a:pPr>
            <a:r>
              <a:rPr lang="en-US" sz="2200" b="1" i="1" dirty="0">
                <a:solidFill>
                  <a:srgbClr val="1A3A5F"/>
                </a:solidFill>
                <a:latin typeface="Cambria" pitchFamily="34" charset="0"/>
                <a:ea typeface="Cambria" pitchFamily="34" charset="-122"/>
                <a:cs typeface="Cambria" pitchFamily="34" charset="-120"/>
              </a:rPr>
              <a:t>v</a:t>
            </a:r>
            <a:pPr algn="ctr" indent="0" marL="0">
              <a:buNone/>
            </a:pPr>
            <a:r>
              <a:rPr lang="en-US" sz="1200" b="1" i="1" dirty="0">
                <a:solidFill>
                  <a:srgbClr val="1A3A5F"/>
                </a:solidFill>
                <a:latin typeface="Cambria" pitchFamily="34" charset="0"/>
                <a:ea typeface="Cambria" pitchFamily="34" charset="-122"/>
                <a:cs typeface="Cambria" pitchFamily="34" charset="-120"/>
              </a:rPr>
              <a:t>tgt</a:t>
            </a:r>
            <a:pPr algn="ctr" indent="0" marL="0">
              <a:buNone/>
            </a:pPr>
            <a:r>
              <a:rPr lang="en-US" sz="2200" b="1" i="1" dirty="0">
                <a:solidFill>
                  <a:srgbClr val="1A3A5F"/>
                </a:solidFill>
                <a:latin typeface="Cambria" pitchFamily="34" charset="0"/>
                <a:ea typeface="Cambria" pitchFamily="34" charset="-122"/>
                <a:cs typeface="Cambria" pitchFamily="34" charset="-120"/>
              </a:rPr>
              <a:t>  ·  s</a:t>
            </a:r>
            <a:pPr algn="ctr" indent="0" marL="0">
              <a:buNone/>
            </a:pPr>
            <a:r>
              <a:rPr lang="en-US" sz="1200" b="1" i="1" dirty="0">
                <a:solidFill>
                  <a:srgbClr val="1A3A5F"/>
                </a:solidFill>
                <a:latin typeface="Cambria" pitchFamily="34" charset="0"/>
                <a:ea typeface="Cambria" pitchFamily="34" charset="-122"/>
                <a:cs typeface="Cambria" pitchFamily="34" charset="-120"/>
              </a:rPr>
              <a:t>i,t</a:t>
            </a:r>
            <a:pPr algn="ctr" indent="0" marL="0">
              <a:buNone/>
            </a:pPr>
            <a:r>
              <a:rPr lang="en-US" sz="2200" b="1" i="1" dirty="0">
                <a:solidFill>
                  <a:srgbClr val="1A3A5F"/>
                </a:solidFill>
                <a:latin typeface="Cambria" pitchFamily="34" charset="0"/>
                <a:ea typeface="Cambria" pitchFamily="34" charset="-122"/>
                <a:cs typeface="Cambria" pitchFamily="34" charset="-120"/>
              </a:rPr>
              <a:t>  ·  g</a:t>
            </a:r>
            <a:pPr algn="ctr" indent="0" marL="0">
              <a:buNone/>
            </a:pPr>
            <a:r>
              <a:rPr lang="en-US" sz="1200" b="1" i="1" dirty="0">
                <a:solidFill>
                  <a:srgbClr val="1A3A5F"/>
                </a:solidFill>
                <a:latin typeface="Cambria" pitchFamily="34" charset="0"/>
                <a:ea typeface="Cambria" pitchFamily="34" charset="-122"/>
                <a:cs typeface="Cambria" pitchFamily="34" charset="-120"/>
              </a:rPr>
              <a:t>t</a:t>
            </a:r>
            <a:pPr algn="ctr" indent="0" marL="0">
              <a:buNone/>
            </a:pPr>
            <a:r>
              <a:rPr lang="en-US" sz="2200" b="1" dirty="0">
                <a:solidFill>
                  <a:srgbClr val="1A3A5F"/>
                </a:solidFill>
                <a:latin typeface="Cambria" pitchFamily="34" charset="0"/>
                <a:ea typeface="Cambria" pitchFamily="34" charset="-122"/>
                <a:cs typeface="Cambria" pitchFamily="34" charset="-120"/>
              </a:rPr>
              <a:t>   /   σ</a:t>
            </a:r>
            <a:pPr algn="ctr" indent="0" marL="0">
              <a:buNone/>
            </a:pPr>
            <a:r>
              <a:rPr lang="en-US" sz="1200" b="1" i="1" dirty="0">
                <a:solidFill>
                  <a:srgbClr val="1A3A5F"/>
                </a:solidFill>
                <a:latin typeface="Cambria" pitchFamily="34" charset="0"/>
                <a:ea typeface="Cambria" pitchFamily="34" charset="-122"/>
                <a:cs typeface="Cambria" pitchFamily="34" charset="-120"/>
              </a:rPr>
              <a:t>i,t</a:t>
            </a:r>
            <a:pPr algn="ctr" indent="0" marL="0">
              <a:buNone/>
            </a:pPr>
            <a:r>
              <a:rPr lang="en-US" sz="1200" b="1" i="1" dirty="0">
                <a:solidFill>
                  <a:srgbClr val="1A3A5F"/>
                </a:solidFill>
                <a:latin typeface="Cambria" pitchFamily="34" charset="0"/>
                <a:ea typeface="Cambria" pitchFamily="34" charset="-122"/>
                <a:cs typeface="Cambria" pitchFamily="34" charset="-120"/>
              </a:rPr>
              <a:t>IV</a:t>
            </a:r>
            <a:pPr algn="ctr" indent="0" marL="0">
              <a:buNone/>
            </a:pPr>
            <a:r>
              <a:rPr lang="en-US" sz="2200" b="1" i="1" dirty="0">
                <a:solidFill>
                  <a:srgbClr val="1A3A5F"/>
                </a:solidFill>
                <a:latin typeface="Cambria" pitchFamily="34" charset="0"/>
                <a:ea typeface="Cambria" pitchFamily="34" charset="-122"/>
                <a:cs typeface="Cambria" pitchFamily="34" charset="-120"/>
              </a:rPr>
              <a:t>  ·  N</a:t>
            </a:r>
            <a:endParaRPr lang="en-US" sz="2200" dirty="0"/>
          </a:p>
        </p:txBody>
      </p:sp>
      <p:sp>
        <p:nvSpPr>
          <p:cNvPr id="7" name="Text 5"/>
          <p:cNvSpPr/>
          <p:nvPr/>
        </p:nvSpPr>
        <p:spPr>
          <a:xfrm>
            <a:off x="1371600" y="1874520"/>
            <a:ext cx="6400800" cy="548640"/>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v</a:t>
            </a:r>
            <a:pPr algn="ctr" indent="0" marL="0">
              <a:buNone/>
            </a:pPr>
            <a:r>
              <a:rPr lang="en-US" sz="900" i="1" dirty="0">
                <a:solidFill>
                  <a:srgbClr val="64748B"/>
                </a:solidFill>
                <a:latin typeface="Calibri" pitchFamily="34" charset="0"/>
                <a:ea typeface="Calibri" pitchFamily="34" charset="-122"/>
                <a:cs typeface="Calibri" pitchFamily="34" charset="-120"/>
              </a:rPr>
              <a:t>tgt</a:t>
            </a:r>
            <a:pPr algn="ctr" indent="0" marL="0">
              <a:buNone/>
            </a:pPr>
            <a:r>
              <a:rPr lang="en-US" sz="1100" i="1" dirty="0">
                <a:solidFill>
                  <a:srgbClr val="64748B"/>
                </a:solidFill>
                <a:latin typeface="Calibri" pitchFamily="34" charset="0"/>
                <a:ea typeface="Calibri" pitchFamily="34" charset="-122"/>
                <a:cs typeface="Calibri" pitchFamily="34" charset="-120"/>
              </a:rPr>
              <a:t> = 10% per leg   ·   </a:t>
            </a:r>
            <a:pPr algn="ctr" indent="0" marL="0">
              <a:buNone/>
            </a:pPr>
            <a:r>
              <a:rPr lang="en-US" sz="1100" i="1" dirty="0">
                <a:solidFill>
                  <a:srgbClr val="64748B"/>
                </a:solidFill>
                <a:latin typeface="Calibri" pitchFamily="34" charset="0"/>
                <a:ea typeface="Calibri" pitchFamily="34" charset="-122"/>
                <a:cs typeface="Calibri" pitchFamily="34" charset="-120"/>
              </a:rPr>
              <a:t>g</a:t>
            </a:r>
            <a:pPr algn="ctr" indent="0" marL="0">
              <a:buNone/>
            </a:pPr>
            <a:r>
              <a:rPr lang="en-US" sz="900" i="1" dirty="0">
                <a:solidFill>
                  <a:srgbClr val="64748B"/>
                </a:solidFill>
                <a:latin typeface="Calibri" pitchFamily="34" charset="0"/>
                <a:ea typeface="Calibri" pitchFamily="34" charset="-122"/>
                <a:cs typeface="Calibri" pitchFamily="34" charset="-120"/>
              </a:rPr>
              <a:t>t</a:t>
            </a:r>
            <a:pPr algn="ctr" indent="0" marL="0">
              <a:buNone/>
            </a:pPr>
            <a:r>
              <a:rPr lang="en-US" sz="1100" i="1" dirty="0">
                <a:solidFill>
                  <a:srgbClr val="64748B"/>
                </a:solidFill>
                <a:latin typeface="Calibri" pitchFamily="34" charset="0"/>
                <a:ea typeface="Calibri" pitchFamily="34" charset="-122"/>
                <a:cs typeface="Calibri" pitchFamily="34" charset="-120"/>
              </a:rPr>
              <a:t> = regime gross multiplier   ·   </a:t>
            </a:r>
            <a:pPr algn="ctr" indent="0" marL="0">
              <a:buNone/>
            </a:pPr>
            <a:r>
              <a:rPr lang="en-US" sz="1100" i="1" dirty="0">
                <a:solidFill>
                  <a:srgbClr val="64748B"/>
                </a:solidFill>
                <a:latin typeface="Calibri" pitchFamily="34" charset="0"/>
                <a:ea typeface="Calibri" pitchFamily="34" charset="-122"/>
                <a:cs typeface="Calibri" pitchFamily="34" charset="-120"/>
              </a:rPr>
              <a:t>N</a:t>
            </a:r>
            <a:pPr algn="ctr" indent="0" marL="0">
              <a:buNone/>
            </a:pPr>
            <a:r>
              <a:rPr lang="en-US" sz="1100" i="1" dirty="0">
                <a:solidFill>
                  <a:srgbClr val="64748B"/>
                </a:solidFill>
                <a:latin typeface="Calibri" pitchFamily="34" charset="0"/>
                <a:ea typeface="Calibri" pitchFamily="34" charset="-122"/>
                <a:cs typeface="Calibri" pitchFamily="34" charset="-120"/>
              </a:rPr>
              <a:t> = 8 legs</a:t>
            </a:r>
            <a:endParaRPr lang="en-US" sz="1100" dirty="0"/>
          </a:p>
          <a:p>
            <a:pPr algn="ctr" indent="0" marL="0">
              <a:buNone/>
            </a:pPr>
            <a:r>
              <a:rPr lang="en-US" sz="1100" i="1" dirty="0">
                <a:solidFill>
                  <a:srgbClr val="64748B"/>
                </a:solidFill>
                <a:latin typeface="Calibri" pitchFamily="34" charset="0"/>
                <a:ea typeface="Calibri" pitchFamily="34" charset="-122"/>
                <a:cs typeface="Calibri" pitchFamily="34" charset="-120"/>
              </a:rPr>
              <a:t>σ</a:t>
            </a:r>
            <a:pPr algn="ctr" indent="0" marL="0">
              <a:buNone/>
            </a:pPr>
            <a:r>
              <a:rPr lang="en-US" sz="900" i="1" dirty="0">
                <a:solidFill>
                  <a:srgbClr val="64748B"/>
                </a:solidFill>
                <a:latin typeface="Calibri" pitchFamily="34" charset="0"/>
                <a:ea typeface="Calibri" pitchFamily="34" charset="-122"/>
                <a:cs typeface="Calibri" pitchFamily="34" charset="-120"/>
              </a:rPr>
              <a:t>IV</a:t>
            </a:r>
            <a:pPr algn="ctr" indent="0" marL="0">
              <a:buNone/>
            </a:pPr>
            <a:r>
              <a:rPr lang="en-US" sz="1100" i="1" dirty="0">
                <a:solidFill>
                  <a:srgbClr val="64748B"/>
                </a:solidFill>
                <a:latin typeface="Calibri" pitchFamily="34" charset="0"/>
                <a:ea typeface="Calibri" pitchFamily="34" charset="-122"/>
                <a:cs typeface="Calibri" pitchFamily="34" charset="-120"/>
              </a:rPr>
              <a:t> = 30-day ATM implied volatility (WRDS OptionMetrics)</a:t>
            </a:r>
            <a:endParaRPr lang="en-US" sz="1100" dirty="0"/>
          </a:p>
        </p:txBody>
      </p:sp>
      <p:sp>
        <p:nvSpPr>
          <p:cNvPr id="8" name="Text 6"/>
          <p:cNvSpPr/>
          <p:nvPr/>
        </p:nvSpPr>
        <p:spPr>
          <a:xfrm>
            <a:off x="457200" y="2651760"/>
            <a:ext cx="3931920" cy="320040"/>
          </a:xfrm>
          <a:prstGeom prst="rect">
            <a:avLst/>
          </a:prstGeom>
          <a:noFill/>
          <a:ln/>
        </p:spPr>
        <p:txBody>
          <a:bodyPr wrap="square" lIns="0" tIns="0" rIns="0" bIns="0" rtlCol="0" anchor="ctr"/>
          <a:lstStyle/>
          <a:p>
            <a:pPr indent="0" marL="0">
              <a:buNone/>
            </a:pPr>
            <a:r>
              <a:rPr lang="en-US" sz="1600" b="1" dirty="0">
                <a:solidFill>
                  <a:srgbClr val="1A3A5F"/>
                </a:solidFill>
                <a:latin typeface="Calibri" pitchFamily="34" charset="0"/>
                <a:ea typeface="Calibri" pitchFamily="34" charset="-122"/>
                <a:cs typeface="Calibri" pitchFamily="34" charset="-120"/>
              </a:rPr>
              <a:t>Intuition</a:t>
            </a:r>
            <a:endParaRPr lang="en-US" sz="1600" dirty="0"/>
          </a:p>
        </p:txBody>
      </p:sp>
      <p:sp>
        <p:nvSpPr>
          <p:cNvPr id="9" name="Text 7"/>
          <p:cNvSpPr/>
          <p:nvPr/>
        </p:nvSpPr>
        <p:spPr>
          <a:xfrm>
            <a:off x="457200" y="3017520"/>
            <a:ext cx="3931920" cy="173736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0C111D"/>
                </a:solidFill>
                <a:latin typeface="Calibri" pitchFamily="34" charset="0"/>
                <a:ea typeface="Calibri" pitchFamily="34" charset="-122"/>
                <a:cs typeface="Calibri" pitchFamily="34" charset="-120"/>
              </a:rPr>
              <a:t>High IV  -&gt;  smaller position</a:t>
            </a:r>
            <a:endParaRPr lang="en-US" sz="1200" dirty="0"/>
          </a:p>
          <a:p>
            <a:pPr marL="342900" indent="-342900">
              <a:spcAft>
                <a:spcPts val="400"/>
              </a:spcAft>
              <a:buSzPct val="100000"/>
              <a:buChar char="■"/>
            </a:pPr>
            <a:r>
              <a:rPr lang="en-US" sz="1200" dirty="0">
                <a:solidFill>
                  <a:srgbClr val="0C111D"/>
                </a:solidFill>
                <a:latin typeface="Calibri" pitchFamily="34" charset="0"/>
                <a:ea typeface="Calibri" pitchFamily="34" charset="-122"/>
                <a:cs typeface="Calibri" pitchFamily="34" charset="-120"/>
              </a:rPr>
              <a:t>Low IV  -&gt;  larger position</a:t>
            </a:r>
            <a:endParaRPr lang="en-US" sz="1200" dirty="0"/>
          </a:p>
          <a:p>
            <a:pPr marL="342900" indent="-342900">
              <a:spcAft>
                <a:spcPts val="400"/>
              </a:spcAft>
              <a:buSzPct val="100000"/>
              <a:buChar char="■"/>
            </a:pPr>
            <a:r>
              <a:rPr lang="en-US" sz="1200" dirty="0">
                <a:solidFill>
                  <a:srgbClr val="0C111D"/>
                </a:solidFill>
                <a:latin typeface="Calibri" pitchFamily="34" charset="0"/>
                <a:ea typeface="Calibri" pitchFamily="34" charset="-122"/>
                <a:cs typeface="Calibri" pitchFamily="34" charset="-120"/>
              </a:rPr>
              <a:t>Each leg contributes a similar dollar risk, not equal dollar capital.</a:t>
            </a:r>
            <a:endParaRPr lang="en-US" sz="1200" dirty="0"/>
          </a:p>
          <a:p>
            <a:pPr marL="342900" indent="-342900">
              <a:spcAft>
                <a:spcPts val="400"/>
              </a:spcAft>
              <a:buSzPct val="100000"/>
              <a:buChar char="■"/>
            </a:pPr>
            <a:r>
              <a:rPr lang="en-US" sz="1200" dirty="0">
                <a:solidFill>
                  <a:srgbClr val="0C111D"/>
                </a:solidFill>
                <a:latin typeface="Calibri" pitchFamily="34" charset="0"/>
                <a:ea typeface="Calibri" pitchFamily="34" charset="-122"/>
                <a:cs typeface="Calibri" pitchFamily="34" charset="-120"/>
              </a:rPr>
              <a:t>Forward-looking estimate: the option market's price for protection right now, not realised vol from the past.</a:t>
            </a:r>
            <a:endParaRPr lang="en-US" sz="1200" dirty="0"/>
          </a:p>
        </p:txBody>
      </p:sp>
      <p:sp>
        <p:nvSpPr>
          <p:cNvPr id="10" name="Text 8"/>
          <p:cNvSpPr/>
          <p:nvPr/>
        </p:nvSpPr>
        <p:spPr>
          <a:xfrm>
            <a:off x="4754880" y="2651760"/>
            <a:ext cx="3931920" cy="320040"/>
          </a:xfrm>
          <a:prstGeom prst="rect">
            <a:avLst/>
          </a:prstGeom>
          <a:noFill/>
          <a:ln/>
        </p:spPr>
        <p:txBody>
          <a:bodyPr wrap="square" lIns="0" tIns="0" rIns="0" bIns="0" rtlCol="0" anchor="ctr"/>
          <a:lstStyle/>
          <a:p>
            <a:pPr indent="0" marL="0">
              <a:buNone/>
            </a:pPr>
            <a:r>
              <a:rPr lang="en-US" sz="1600" b="1" dirty="0">
                <a:solidFill>
                  <a:srgbClr val="1A3A5F"/>
                </a:solidFill>
                <a:latin typeface="Calibri" pitchFamily="34" charset="0"/>
                <a:ea typeface="Calibri" pitchFamily="34" charset="-122"/>
                <a:cs typeface="Calibri" pitchFamily="34" charset="-120"/>
              </a:rPr>
              <a:t>Constraints</a:t>
            </a:r>
            <a:endParaRPr lang="en-US" sz="1600" dirty="0"/>
          </a:p>
        </p:txBody>
      </p:sp>
      <p:sp>
        <p:nvSpPr>
          <p:cNvPr id="11" name="Text 9"/>
          <p:cNvSpPr/>
          <p:nvPr/>
        </p:nvSpPr>
        <p:spPr>
          <a:xfrm>
            <a:off x="4754880" y="3017520"/>
            <a:ext cx="3931920" cy="173736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0C111D"/>
                </a:solidFill>
                <a:latin typeface="Calibri" pitchFamily="34" charset="0"/>
                <a:ea typeface="Calibri" pitchFamily="34" charset="-122"/>
                <a:cs typeface="Calibri" pitchFamily="34" charset="-120"/>
              </a:rPr>
              <a:t>Per-leg vol target: </a:t>
            </a:r>
            <a:pPr indent="0" marL="0">
              <a:spcAft>
                <a:spcPts val="600"/>
              </a:spcAft>
              <a:buNone/>
            </a:pPr>
            <a:r>
              <a:rPr lang="en-US" sz="1200" b="1" dirty="0">
                <a:solidFill>
                  <a:srgbClr val="1A3A5F"/>
                </a:solidFill>
                <a:latin typeface="Calibri" pitchFamily="34" charset="0"/>
                <a:ea typeface="Calibri" pitchFamily="34" charset="-122"/>
                <a:cs typeface="Calibri" pitchFamily="34" charset="-120"/>
              </a:rPr>
              <a:t>10%</a:t>
            </a:r>
            <a:endParaRPr lang="en-US" sz="1200" dirty="0"/>
          </a:p>
          <a:p>
            <a:pPr marL="342900" indent="-342900">
              <a:spcAft>
                <a:spcPts val="600"/>
              </a:spcAft>
              <a:buSzPct val="100000"/>
              <a:buChar char="■"/>
            </a:pPr>
            <a:r>
              <a:rPr lang="en-US" sz="1200" dirty="0">
                <a:solidFill>
                  <a:srgbClr val="0C111D"/>
                </a:solidFill>
                <a:latin typeface="Calibri" pitchFamily="34" charset="0"/>
                <a:ea typeface="Calibri" pitchFamily="34" charset="-122"/>
                <a:cs typeface="Calibri" pitchFamily="34" charset="-120"/>
              </a:rPr>
              <a:t>Gross-exposure ceiling: </a:t>
            </a:r>
            <a:pPr indent="0" marL="0">
              <a:spcAft>
                <a:spcPts val="600"/>
              </a:spcAft>
              <a:buNone/>
            </a:pPr>
            <a:r>
              <a:rPr lang="en-US" sz="1200" b="1" dirty="0">
                <a:solidFill>
                  <a:srgbClr val="1A3A5F"/>
                </a:solidFill>
                <a:latin typeface="Calibri" pitchFamily="34" charset="0"/>
                <a:ea typeface="Calibri" pitchFamily="34" charset="-122"/>
                <a:cs typeface="Calibri" pitchFamily="34" charset="-120"/>
              </a:rPr>
              <a:t>3.5× (realised peak ~1.31×)</a:t>
            </a:r>
            <a:endParaRPr lang="en-US" sz="1200" dirty="0"/>
          </a:p>
          <a:p>
            <a:pPr marL="342900" indent="-342900">
              <a:spcAft>
                <a:spcPts val="600"/>
              </a:spcAft>
              <a:buSzPct val="100000"/>
              <a:buChar char="■"/>
            </a:pPr>
            <a:r>
              <a:rPr lang="en-US" sz="1200" dirty="0">
                <a:solidFill>
                  <a:srgbClr val="0C111D"/>
                </a:solidFill>
                <a:latin typeface="Calibri" pitchFamily="34" charset="0"/>
                <a:ea typeface="Calibri" pitchFamily="34" charset="-122"/>
                <a:cs typeface="Calibri" pitchFamily="34" charset="-120"/>
              </a:rPr>
              <a:t>Weekly Friday rebalance, 4 bps round-trip cost</a:t>
            </a:r>
            <a:endParaRPr lang="en-US" sz="1200" dirty="0"/>
          </a:p>
        </p:txBody>
      </p:sp>
      <p:sp>
        <p:nvSpPr>
          <p:cNvPr id="12" name="Text 10"/>
          <p:cNvSpPr/>
          <p:nvPr/>
        </p:nvSpPr>
        <p:spPr>
          <a:xfrm>
            <a:off x="457200" y="4846320"/>
            <a:ext cx="68580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Sizing, Not Signaling  ·  Pavlos Giannakis  ·  FINM 33150 (Spring 2026)</a:t>
            </a:r>
            <a:endParaRPr lang="en-US" sz="900" dirty="0"/>
          </a:p>
        </p:txBody>
      </p:sp>
      <p:sp>
        <p:nvSpPr>
          <p:cNvPr id="13" name="Text 11"/>
          <p:cNvSpPr/>
          <p:nvPr/>
        </p:nvSpPr>
        <p:spPr>
          <a:xfrm>
            <a:off x="8229600" y="4846320"/>
            <a:ext cx="64008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 /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indent="0" marL="0">
              <a:buNone/>
            </a:pPr>
            <a:r>
              <a:rPr lang="en-US" sz="2800" b="1" dirty="0">
                <a:solidFill>
                  <a:srgbClr val="1A3A5F"/>
                </a:solidFill>
                <a:latin typeface="Calibri" pitchFamily="34" charset="0"/>
                <a:ea typeface="Calibri" pitchFamily="34" charset="-122"/>
                <a:cs typeface="Calibri" pitchFamily="34" charset="-120"/>
              </a:rPr>
              <a:t>Mechanic 2: macro stress gate</a:t>
            </a:r>
            <a:endParaRPr lang="en-US" sz="2800" dirty="0"/>
          </a:p>
        </p:txBody>
      </p:sp>
      <p:sp>
        <p:nvSpPr>
          <p:cNvPr id="3" name="Text 1"/>
          <p:cNvSpPr/>
          <p:nvPr/>
        </p:nvSpPr>
        <p:spPr>
          <a:xfrm>
            <a:off x="457200" y="713232"/>
            <a:ext cx="8229600" cy="292608"/>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VIX + Chicago Fed NFCI composite into four discrete regimes</a:t>
            </a:r>
            <a:endParaRPr lang="en-US" sz="1300" dirty="0"/>
          </a:p>
        </p:txBody>
      </p:sp>
      <p:sp>
        <p:nvSpPr>
          <p:cNvPr id="4" name="Shape 2"/>
          <p:cNvSpPr/>
          <p:nvPr/>
        </p:nvSpPr>
        <p:spPr>
          <a:xfrm>
            <a:off x="457200" y="1280160"/>
            <a:ext cx="1965960" cy="2468880"/>
          </a:xfrm>
          <a:prstGeom prst="rect">
            <a:avLst/>
          </a:prstGeom>
          <a:solidFill>
            <a:srgbClr val="F7F8FA"/>
          </a:solidFill>
          <a:ln w="6350">
            <a:solidFill>
              <a:srgbClr val="E5E7EB"/>
            </a:solidFill>
            <a:prstDash val="solid"/>
          </a:ln>
        </p:spPr>
      </p:sp>
      <p:sp>
        <p:nvSpPr>
          <p:cNvPr id="5" name="Shape 3"/>
          <p:cNvSpPr/>
          <p:nvPr/>
        </p:nvSpPr>
        <p:spPr>
          <a:xfrm>
            <a:off x="457200" y="1280160"/>
            <a:ext cx="1965960" cy="164592"/>
          </a:xfrm>
          <a:prstGeom prst="rect">
            <a:avLst/>
          </a:prstGeom>
          <a:solidFill>
            <a:srgbClr val="1B7C89"/>
          </a:solidFill>
          <a:ln w="12700">
            <a:solidFill>
              <a:srgbClr val="1B7C89"/>
            </a:solidFill>
            <a:prstDash val="solid"/>
          </a:ln>
        </p:spPr>
      </p:sp>
      <p:sp>
        <p:nvSpPr>
          <p:cNvPr id="6" name="Text 4"/>
          <p:cNvSpPr/>
          <p:nvPr/>
        </p:nvSpPr>
        <p:spPr>
          <a:xfrm>
            <a:off x="594360" y="1536192"/>
            <a:ext cx="1691640" cy="365760"/>
          </a:xfrm>
          <a:prstGeom prst="rect">
            <a:avLst/>
          </a:prstGeom>
          <a:noFill/>
          <a:ln/>
        </p:spPr>
        <p:txBody>
          <a:bodyPr wrap="square" lIns="0" tIns="0" rIns="0" bIns="0" rtlCol="0" anchor="ctr"/>
          <a:lstStyle/>
          <a:p>
            <a:pPr indent="0" marL="0">
              <a:buNone/>
            </a:pPr>
            <a:r>
              <a:rPr lang="en-US" sz="1800" b="1" dirty="0">
                <a:solidFill>
                  <a:srgbClr val="1B7C89"/>
                </a:solidFill>
                <a:latin typeface="Calibri" pitchFamily="34" charset="0"/>
                <a:ea typeface="Calibri" pitchFamily="34" charset="-122"/>
                <a:cs typeface="Calibri" pitchFamily="34" charset="-120"/>
              </a:rPr>
              <a:t>Calm</a:t>
            </a:r>
            <a:endParaRPr lang="en-US" sz="1800" dirty="0"/>
          </a:p>
        </p:txBody>
      </p:sp>
      <p:sp>
        <p:nvSpPr>
          <p:cNvPr id="7" name="Text 5"/>
          <p:cNvSpPr/>
          <p:nvPr/>
        </p:nvSpPr>
        <p:spPr>
          <a:xfrm>
            <a:off x="594360" y="1965960"/>
            <a:ext cx="1691640" cy="502920"/>
          </a:xfrm>
          <a:prstGeom prst="rect">
            <a:avLst/>
          </a:prstGeom>
          <a:noFill/>
          <a:ln/>
        </p:spPr>
        <p:txBody>
          <a:bodyPr wrap="square" lIns="0" tIns="0" rIns="0" bIns="0" rtlCol="0" anchor="ctr"/>
          <a:lstStyle/>
          <a:p>
            <a:pPr indent="0" marL="0">
              <a:buNone/>
            </a:pPr>
            <a:r>
              <a:rPr lang="en-US" sz="3000" b="1" dirty="0">
                <a:solidFill>
                  <a:srgbClr val="0C111D"/>
                </a:solidFill>
                <a:latin typeface="Calibri" pitchFamily="34" charset="0"/>
                <a:ea typeface="Calibri" pitchFamily="34" charset="-122"/>
                <a:cs typeface="Calibri" pitchFamily="34" charset="-120"/>
              </a:rPr>
              <a:t>1.5×</a:t>
            </a:r>
            <a:endParaRPr lang="en-US" sz="3000" dirty="0"/>
          </a:p>
        </p:txBody>
      </p:sp>
      <p:sp>
        <p:nvSpPr>
          <p:cNvPr id="8" name="Text 6"/>
          <p:cNvSpPr/>
          <p:nvPr/>
        </p:nvSpPr>
        <p:spPr>
          <a:xfrm>
            <a:off x="594360" y="2514600"/>
            <a:ext cx="1691640" cy="32004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24% of days</a:t>
            </a:r>
            <a:endParaRPr lang="en-US" sz="1200" dirty="0"/>
          </a:p>
        </p:txBody>
      </p:sp>
      <p:sp>
        <p:nvSpPr>
          <p:cNvPr id="9" name="Text 7"/>
          <p:cNvSpPr/>
          <p:nvPr/>
        </p:nvSpPr>
        <p:spPr>
          <a:xfrm>
            <a:off x="594360" y="2880360"/>
            <a:ext cx="1691640" cy="777240"/>
          </a:xfrm>
          <a:prstGeom prst="rect">
            <a:avLst/>
          </a:prstGeom>
          <a:noFill/>
          <a:ln/>
        </p:spPr>
        <p:txBody>
          <a:bodyPr wrap="square" lIns="0" tIns="0" rIns="0" bIns="0" rtlCol="0" anchor="ctr"/>
          <a:lstStyle/>
          <a:p>
            <a:pPr indent="0" marL="0">
              <a:buNone/>
            </a:pPr>
            <a:r>
              <a:rPr lang="en-US" sz="1100" dirty="0">
                <a:solidFill>
                  <a:srgbClr val="0C111D"/>
                </a:solidFill>
                <a:latin typeface="Calibri" pitchFamily="34" charset="0"/>
                <a:ea typeface="Calibri" pitchFamily="34" charset="-122"/>
                <a:cs typeface="Calibri" pitchFamily="34" charset="-120"/>
              </a:rPr>
              <a:t>Both VIX and NFCI in low percentiles</a:t>
            </a:r>
            <a:endParaRPr lang="en-US" sz="1100" dirty="0"/>
          </a:p>
        </p:txBody>
      </p:sp>
      <p:sp>
        <p:nvSpPr>
          <p:cNvPr id="10" name="Shape 8"/>
          <p:cNvSpPr/>
          <p:nvPr/>
        </p:nvSpPr>
        <p:spPr>
          <a:xfrm>
            <a:off x="2542032" y="1280160"/>
            <a:ext cx="1965960" cy="2468880"/>
          </a:xfrm>
          <a:prstGeom prst="rect">
            <a:avLst/>
          </a:prstGeom>
          <a:solidFill>
            <a:srgbClr val="F7F8FA"/>
          </a:solidFill>
          <a:ln w="6350">
            <a:solidFill>
              <a:srgbClr val="E5E7EB"/>
            </a:solidFill>
            <a:prstDash val="solid"/>
          </a:ln>
        </p:spPr>
      </p:sp>
      <p:sp>
        <p:nvSpPr>
          <p:cNvPr id="11" name="Shape 9"/>
          <p:cNvSpPr/>
          <p:nvPr/>
        </p:nvSpPr>
        <p:spPr>
          <a:xfrm>
            <a:off x="2542032" y="1280160"/>
            <a:ext cx="1965960" cy="164592"/>
          </a:xfrm>
          <a:prstGeom prst="rect">
            <a:avLst/>
          </a:prstGeom>
          <a:solidFill>
            <a:srgbClr val="1A3A5F"/>
          </a:solidFill>
          <a:ln w="12700">
            <a:solidFill>
              <a:srgbClr val="1A3A5F"/>
            </a:solidFill>
            <a:prstDash val="solid"/>
          </a:ln>
        </p:spPr>
      </p:sp>
      <p:sp>
        <p:nvSpPr>
          <p:cNvPr id="12" name="Text 10"/>
          <p:cNvSpPr/>
          <p:nvPr/>
        </p:nvSpPr>
        <p:spPr>
          <a:xfrm>
            <a:off x="2679192" y="1536192"/>
            <a:ext cx="1691640" cy="365760"/>
          </a:xfrm>
          <a:prstGeom prst="rect">
            <a:avLst/>
          </a:prstGeom>
          <a:noFill/>
          <a:ln/>
        </p:spPr>
        <p:txBody>
          <a:bodyPr wrap="square" lIns="0" tIns="0" rIns="0" bIns="0" rtlCol="0" anchor="ctr"/>
          <a:lstStyle/>
          <a:p>
            <a:pPr indent="0" marL="0">
              <a:buNone/>
            </a:pPr>
            <a:r>
              <a:rPr lang="en-US" sz="1800" b="1" dirty="0">
                <a:solidFill>
                  <a:srgbClr val="1A3A5F"/>
                </a:solidFill>
                <a:latin typeface="Calibri" pitchFamily="34" charset="0"/>
                <a:ea typeface="Calibri" pitchFamily="34" charset="-122"/>
                <a:cs typeface="Calibri" pitchFamily="34" charset="-120"/>
              </a:rPr>
              <a:t>Normal</a:t>
            </a:r>
            <a:endParaRPr lang="en-US" sz="1800" dirty="0"/>
          </a:p>
        </p:txBody>
      </p:sp>
      <p:sp>
        <p:nvSpPr>
          <p:cNvPr id="13" name="Text 11"/>
          <p:cNvSpPr/>
          <p:nvPr/>
        </p:nvSpPr>
        <p:spPr>
          <a:xfrm>
            <a:off x="2679192" y="1965960"/>
            <a:ext cx="1691640" cy="502920"/>
          </a:xfrm>
          <a:prstGeom prst="rect">
            <a:avLst/>
          </a:prstGeom>
          <a:noFill/>
          <a:ln/>
        </p:spPr>
        <p:txBody>
          <a:bodyPr wrap="square" lIns="0" tIns="0" rIns="0" bIns="0" rtlCol="0" anchor="ctr"/>
          <a:lstStyle/>
          <a:p>
            <a:pPr indent="0" marL="0">
              <a:buNone/>
            </a:pPr>
            <a:r>
              <a:rPr lang="en-US" sz="3000" b="1" dirty="0">
                <a:solidFill>
                  <a:srgbClr val="0C111D"/>
                </a:solidFill>
                <a:latin typeface="Calibri" pitchFamily="34" charset="0"/>
                <a:ea typeface="Calibri" pitchFamily="34" charset="-122"/>
                <a:cs typeface="Calibri" pitchFamily="34" charset="-120"/>
              </a:rPr>
              <a:t>1.0×</a:t>
            </a:r>
            <a:endParaRPr lang="en-US" sz="3000" dirty="0"/>
          </a:p>
        </p:txBody>
      </p:sp>
      <p:sp>
        <p:nvSpPr>
          <p:cNvPr id="14" name="Text 12"/>
          <p:cNvSpPr/>
          <p:nvPr/>
        </p:nvSpPr>
        <p:spPr>
          <a:xfrm>
            <a:off x="2679192" y="2514600"/>
            <a:ext cx="1691640" cy="32004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62% of days</a:t>
            </a:r>
            <a:endParaRPr lang="en-US" sz="1200" dirty="0"/>
          </a:p>
        </p:txBody>
      </p:sp>
      <p:sp>
        <p:nvSpPr>
          <p:cNvPr id="15" name="Text 13"/>
          <p:cNvSpPr/>
          <p:nvPr/>
        </p:nvSpPr>
        <p:spPr>
          <a:xfrm>
            <a:off x="2679192" y="2880360"/>
            <a:ext cx="1691640" cy="777240"/>
          </a:xfrm>
          <a:prstGeom prst="rect">
            <a:avLst/>
          </a:prstGeom>
          <a:noFill/>
          <a:ln/>
        </p:spPr>
        <p:txBody>
          <a:bodyPr wrap="square" lIns="0" tIns="0" rIns="0" bIns="0" rtlCol="0" anchor="ctr"/>
          <a:lstStyle/>
          <a:p>
            <a:pPr indent="0" marL="0">
              <a:buNone/>
            </a:pPr>
            <a:r>
              <a:rPr lang="en-US" sz="1100" dirty="0">
                <a:solidFill>
                  <a:srgbClr val="0C111D"/>
                </a:solidFill>
                <a:latin typeface="Calibri" pitchFamily="34" charset="0"/>
                <a:ea typeface="Calibri" pitchFamily="34" charset="-122"/>
                <a:cs typeface="Calibri" pitchFamily="34" charset="-120"/>
              </a:rPr>
              <a:t>Default operating regime</a:t>
            </a:r>
            <a:endParaRPr lang="en-US" sz="1100" dirty="0"/>
          </a:p>
        </p:txBody>
      </p:sp>
      <p:sp>
        <p:nvSpPr>
          <p:cNvPr id="16" name="Shape 14"/>
          <p:cNvSpPr/>
          <p:nvPr/>
        </p:nvSpPr>
        <p:spPr>
          <a:xfrm>
            <a:off x="4626864" y="1280160"/>
            <a:ext cx="1965960" cy="2468880"/>
          </a:xfrm>
          <a:prstGeom prst="rect">
            <a:avLst/>
          </a:prstGeom>
          <a:solidFill>
            <a:srgbClr val="F7F8FA"/>
          </a:solidFill>
          <a:ln w="6350">
            <a:solidFill>
              <a:srgbClr val="E5E7EB"/>
            </a:solidFill>
            <a:prstDash val="solid"/>
          </a:ln>
        </p:spPr>
      </p:sp>
      <p:sp>
        <p:nvSpPr>
          <p:cNvPr id="17" name="Shape 15"/>
          <p:cNvSpPr/>
          <p:nvPr/>
        </p:nvSpPr>
        <p:spPr>
          <a:xfrm>
            <a:off x="4626864" y="1280160"/>
            <a:ext cx="1965960" cy="164592"/>
          </a:xfrm>
          <a:prstGeom prst="rect">
            <a:avLst/>
          </a:prstGeom>
          <a:solidFill>
            <a:srgbClr val="F4B400"/>
          </a:solidFill>
          <a:ln w="12700">
            <a:solidFill>
              <a:srgbClr val="F4B400"/>
            </a:solidFill>
            <a:prstDash val="solid"/>
          </a:ln>
        </p:spPr>
      </p:sp>
      <p:sp>
        <p:nvSpPr>
          <p:cNvPr id="18" name="Text 16"/>
          <p:cNvSpPr/>
          <p:nvPr/>
        </p:nvSpPr>
        <p:spPr>
          <a:xfrm>
            <a:off x="4764024" y="1536192"/>
            <a:ext cx="1691640" cy="365760"/>
          </a:xfrm>
          <a:prstGeom prst="rect">
            <a:avLst/>
          </a:prstGeom>
          <a:noFill/>
          <a:ln/>
        </p:spPr>
        <p:txBody>
          <a:bodyPr wrap="square" lIns="0" tIns="0" rIns="0" bIns="0" rtlCol="0" anchor="ctr"/>
          <a:lstStyle/>
          <a:p>
            <a:pPr indent="0" marL="0">
              <a:buNone/>
            </a:pPr>
            <a:r>
              <a:rPr lang="en-US" sz="1800" b="1" dirty="0">
                <a:solidFill>
                  <a:srgbClr val="F4B400"/>
                </a:solidFill>
                <a:latin typeface="Calibri" pitchFamily="34" charset="0"/>
                <a:ea typeface="Calibri" pitchFamily="34" charset="-122"/>
                <a:cs typeface="Calibri" pitchFamily="34" charset="-120"/>
              </a:rPr>
              <a:t>Stress</a:t>
            </a:r>
            <a:endParaRPr lang="en-US" sz="1800" dirty="0"/>
          </a:p>
        </p:txBody>
      </p:sp>
      <p:sp>
        <p:nvSpPr>
          <p:cNvPr id="19" name="Text 17"/>
          <p:cNvSpPr/>
          <p:nvPr/>
        </p:nvSpPr>
        <p:spPr>
          <a:xfrm>
            <a:off x="4764024" y="1965960"/>
            <a:ext cx="1691640" cy="502920"/>
          </a:xfrm>
          <a:prstGeom prst="rect">
            <a:avLst/>
          </a:prstGeom>
          <a:noFill/>
          <a:ln/>
        </p:spPr>
        <p:txBody>
          <a:bodyPr wrap="square" lIns="0" tIns="0" rIns="0" bIns="0" rtlCol="0" anchor="ctr"/>
          <a:lstStyle/>
          <a:p>
            <a:pPr indent="0" marL="0">
              <a:buNone/>
            </a:pPr>
            <a:r>
              <a:rPr lang="en-US" sz="3000" b="1" dirty="0">
                <a:solidFill>
                  <a:srgbClr val="0C111D"/>
                </a:solidFill>
                <a:latin typeface="Calibri" pitchFamily="34" charset="0"/>
                <a:ea typeface="Calibri" pitchFamily="34" charset="-122"/>
                <a:cs typeface="Calibri" pitchFamily="34" charset="-120"/>
              </a:rPr>
              <a:t>0.5×</a:t>
            </a:r>
            <a:endParaRPr lang="en-US" sz="3000" dirty="0"/>
          </a:p>
        </p:txBody>
      </p:sp>
      <p:sp>
        <p:nvSpPr>
          <p:cNvPr id="20" name="Text 18"/>
          <p:cNvSpPr/>
          <p:nvPr/>
        </p:nvSpPr>
        <p:spPr>
          <a:xfrm>
            <a:off x="4764024" y="2514600"/>
            <a:ext cx="1691640" cy="32004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13% of days</a:t>
            </a:r>
            <a:endParaRPr lang="en-US" sz="1200" dirty="0"/>
          </a:p>
        </p:txBody>
      </p:sp>
      <p:sp>
        <p:nvSpPr>
          <p:cNvPr id="21" name="Text 19"/>
          <p:cNvSpPr/>
          <p:nvPr/>
        </p:nvSpPr>
        <p:spPr>
          <a:xfrm>
            <a:off x="4764024" y="2880360"/>
            <a:ext cx="1691640" cy="777240"/>
          </a:xfrm>
          <a:prstGeom prst="rect">
            <a:avLst/>
          </a:prstGeom>
          <a:noFill/>
          <a:ln/>
        </p:spPr>
        <p:txBody>
          <a:bodyPr wrap="square" lIns="0" tIns="0" rIns="0" bIns="0" rtlCol="0" anchor="ctr"/>
          <a:lstStyle/>
          <a:p>
            <a:pPr indent="0" marL="0">
              <a:buNone/>
            </a:pPr>
            <a:r>
              <a:rPr lang="en-US" sz="1100" dirty="0">
                <a:solidFill>
                  <a:srgbClr val="0C111D"/>
                </a:solidFill>
                <a:latin typeface="Calibri" pitchFamily="34" charset="0"/>
                <a:ea typeface="Calibri" pitchFamily="34" charset="-122"/>
                <a:cs typeface="Calibri" pitchFamily="34" charset="-120"/>
              </a:rPr>
              <a:t>Composite above the 85th percentile</a:t>
            </a:r>
            <a:endParaRPr lang="en-US" sz="1100" dirty="0"/>
          </a:p>
        </p:txBody>
      </p:sp>
      <p:sp>
        <p:nvSpPr>
          <p:cNvPr id="22" name="Shape 20"/>
          <p:cNvSpPr/>
          <p:nvPr/>
        </p:nvSpPr>
        <p:spPr>
          <a:xfrm>
            <a:off x="6711696" y="1280160"/>
            <a:ext cx="1965960" cy="2468880"/>
          </a:xfrm>
          <a:prstGeom prst="rect">
            <a:avLst/>
          </a:prstGeom>
          <a:solidFill>
            <a:srgbClr val="F7F8FA"/>
          </a:solidFill>
          <a:ln w="6350">
            <a:solidFill>
              <a:srgbClr val="E5E7EB"/>
            </a:solidFill>
            <a:prstDash val="solid"/>
          </a:ln>
        </p:spPr>
      </p:sp>
      <p:sp>
        <p:nvSpPr>
          <p:cNvPr id="23" name="Shape 21"/>
          <p:cNvSpPr/>
          <p:nvPr/>
        </p:nvSpPr>
        <p:spPr>
          <a:xfrm>
            <a:off x="6711696" y="1280160"/>
            <a:ext cx="1965960" cy="164592"/>
          </a:xfrm>
          <a:prstGeom prst="rect">
            <a:avLst/>
          </a:prstGeom>
          <a:solidFill>
            <a:srgbClr val="D4351C"/>
          </a:solidFill>
          <a:ln w="12700">
            <a:solidFill>
              <a:srgbClr val="D4351C"/>
            </a:solidFill>
            <a:prstDash val="solid"/>
          </a:ln>
        </p:spPr>
      </p:sp>
      <p:sp>
        <p:nvSpPr>
          <p:cNvPr id="24" name="Text 22"/>
          <p:cNvSpPr/>
          <p:nvPr/>
        </p:nvSpPr>
        <p:spPr>
          <a:xfrm>
            <a:off x="6848856" y="1536192"/>
            <a:ext cx="1691640" cy="365760"/>
          </a:xfrm>
          <a:prstGeom prst="rect">
            <a:avLst/>
          </a:prstGeom>
          <a:noFill/>
          <a:ln/>
        </p:spPr>
        <p:txBody>
          <a:bodyPr wrap="square" lIns="0" tIns="0" rIns="0" bIns="0" rtlCol="0" anchor="ctr"/>
          <a:lstStyle/>
          <a:p>
            <a:pPr indent="0" marL="0">
              <a:buNone/>
            </a:pPr>
            <a:r>
              <a:rPr lang="en-US" sz="1800" b="1" dirty="0">
                <a:solidFill>
                  <a:srgbClr val="D4351C"/>
                </a:solidFill>
                <a:latin typeface="Calibri" pitchFamily="34" charset="0"/>
                <a:ea typeface="Calibri" pitchFamily="34" charset="-122"/>
                <a:cs typeface="Calibri" pitchFamily="34" charset="-120"/>
              </a:rPr>
              <a:t>Crisis</a:t>
            </a:r>
            <a:endParaRPr lang="en-US" sz="1800" dirty="0"/>
          </a:p>
        </p:txBody>
      </p:sp>
      <p:sp>
        <p:nvSpPr>
          <p:cNvPr id="25" name="Text 23"/>
          <p:cNvSpPr/>
          <p:nvPr/>
        </p:nvSpPr>
        <p:spPr>
          <a:xfrm>
            <a:off x="6848856" y="1965960"/>
            <a:ext cx="1691640" cy="502920"/>
          </a:xfrm>
          <a:prstGeom prst="rect">
            <a:avLst/>
          </a:prstGeom>
          <a:noFill/>
          <a:ln/>
        </p:spPr>
        <p:txBody>
          <a:bodyPr wrap="square" lIns="0" tIns="0" rIns="0" bIns="0" rtlCol="0" anchor="ctr"/>
          <a:lstStyle/>
          <a:p>
            <a:pPr indent="0" marL="0">
              <a:buNone/>
            </a:pPr>
            <a:r>
              <a:rPr lang="en-US" sz="3000" b="1" dirty="0">
                <a:solidFill>
                  <a:srgbClr val="0C111D"/>
                </a:solidFill>
                <a:latin typeface="Calibri" pitchFamily="34" charset="0"/>
                <a:ea typeface="Calibri" pitchFamily="34" charset="-122"/>
                <a:cs typeface="Calibri" pitchFamily="34" charset="-120"/>
              </a:rPr>
              <a:t>0×</a:t>
            </a:r>
            <a:endParaRPr lang="en-US" sz="3000" dirty="0"/>
          </a:p>
        </p:txBody>
      </p:sp>
      <p:sp>
        <p:nvSpPr>
          <p:cNvPr id="26" name="Text 24"/>
          <p:cNvSpPr/>
          <p:nvPr/>
        </p:nvSpPr>
        <p:spPr>
          <a:xfrm>
            <a:off x="6848856" y="2514600"/>
            <a:ext cx="1691640" cy="32004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1.2% of days</a:t>
            </a:r>
            <a:endParaRPr lang="en-US" sz="1200" dirty="0"/>
          </a:p>
        </p:txBody>
      </p:sp>
      <p:sp>
        <p:nvSpPr>
          <p:cNvPr id="27" name="Text 25"/>
          <p:cNvSpPr/>
          <p:nvPr/>
        </p:nvSpPr>
        <p:spPr>
          <a:xfrm>
            <a:off x="6848856" y="2880360"/>
            <a:ext cx="1691640" cy="777240"/>
          </a:xfrm>
          <a:prstGeom prst="rect">
            <a:avLst/>
          </a:prstGeom>
          <a:noFill/>
          <a:ln/>
        </p:spPr>
        <p:txBody>
          <a:bodyPr wrap="square" lIns="0" tIns="0" rIns="0" bIns="0" rtlCol="0" anchor="ctr"/>
          <a:lstStyle/>
          <a:p>
            <a:pPr indent="0" marL="0">
              <a:buNone/>
            </a:pPr>
            <a:r>
              <a:rPr lang="en-US" sz="1100" dirty="0">
                <a:solidFill>
                  <a:srgbClr val="0C111D"/>
                </a:solidFill>
                <a:latin typeface="Calibri" pitchFamily="34" charset="0"/>
                <a:ea typeface="Calibri" pitchFamily="34" charset="-122"/>
                <a:cs typeface="Calibri" pitchFamily="34" charset="-120"/>
              </a:rPr>
              <a:t>Composite above the 97th percentile</a:t>
            </a:r>
            <a:endParaRPr lang="en-US" sz="1100" dirty="0"/>
          </a:p>
        </p:txBody>
      </p:sp>
      <p:sp>
        <p:nvSpPr>
          <p:cNvPr id="28" name="Text 26"/>
          <p:cNvSpPr/>
          <p:nvPr/>
        </p:nvSpPr>
        <p:spPr>
          <a:xfrm>
            <a:off x="457200" y="3931920"/>
            <a:ext cx="8229600" cy="777240"/>
          </a:xfrm>
          <a:prstGeom prst="rect">
            <a:avLst/>
          </a:prstGeom>
          <a:noFill/>
          <a:ln/>
        </p:spPr>
        <p:txBody>
          <a:bodyPr wrap="square" lIns="0" tIns="0" rIns="0" bIns="0" rtlCol="0" anchor="ctr"/>
          <a:lstStyle/>
          <a:p>
            <a:pPr indent="0" marL="0">
              <a:buNone/>
            </a:pPr>
            <a:r>
              <a:rPr lang="en-US" sz="1200" b="1" dirty="0">
                <a:solidFill>
                  <a:srgbClr val="1A3A5F"/>
                </a:solidFill>
                <a:latin typeface="Calibri" pitchFamily="34" charset="0"/>
                <a:ea typeface="Calibri" pitchFamily="34" charset="-122"/>
                <a:cs typeface="Calibri" pitchFamily="34" charset="-120"/>
              </a:rPr>
              <a:t>How it scales the book.  </a:t>
            </a:r>
            <a:pPr indent="0" marL="0">
              <a:buNone/>
            </a:pPr>
            <a:r>
              <a:rPr lang="en-US" sz="1200" dirty="0">
                <a:solidFill>
                  <a:srgbClr val="0C111D"/>
                </a:solidFill>
                <a:latin typeface="Calibri" pitchFamily="34" charset="0"/>
                <a:ea typeface="Calibri" pitchFamily="34" charset="-122"/>
                <a:cs typeface="Calibri" pitchFamily="34" charset="-120"/>
              </a:rPr>
              <a:t>Position-sizing rule from slide 4 is multiplied by g</a:t>
            </a:r>
            <a:pPr indent="0" marL="0">
              <a:buNone/>
            </a:pPr>
            <a:r>
              <a:rPr lang="en-US" sz="1000" i="1" dirty="0">
                <a:solidFill>
                  <a:srgbClr val="0C111D"/>
                </a:solidFill>
                <a:latin typeface="Calibri" pitchFamily="34" charset="0"/>
                <a:ea typeface="Calibri" pitchFamily="34" charset="-122"/>
                <a:cs typeface="Calibri" pitchFamily="34" charset="-120"/>
              </a:rPr>
              <a:t>t</a:t>
            </a:r>
            <a:pPr indent="0" marL="0">
              <a:buNone/>
            </a:pPr>
            <a:r>
              <a:rPr lang="en-US" sz="1200" dirty="0">
                <a:solidFill>
                  <a:srgbClr val="0C111D"/>
                </a:solidFill>
                <a:latin typeface="Calibri" pitchFamily="34" charset="0"/>
                <a:ea typeface="Calibri" pitchFamily="34" charset="-122"/>
                <a:cs typeface="Calibri" pitchFamily="34" charset="-120"/>
              </a:rPr>
              <a:t>. Calm windows let the book lean into the trade; stress halves gross; crisis shuts it down. </a:t>
            </a:r>
            <a:pPr indent="0" marL="0">
              <a:buNone/>
            </a:pPr>
            <a:r>
              <a:rPr lang="en-US" sz="1200" i="1" dirty="0">
                <a:solidFill>
                  <a:srgbClr val="64748B"/>
                </a:solidFill>
                <a:latin typeface="Calibri" pitchFamily="34" charset="0"/>
                <a:ea typeface="Calibri" pitchFamily="34" charset="-122"/>
                <a:cs typeface="Calibri" pitchFamily="34" charset="-120"/>
              </a:rPr>
              <a:t>Net effect: the strategy was effectively flat through the worst of 2008-2009 and 2020.</a:t>
            </a:r>
            <a:endParaRPr lang="en-US" sz="1200" dirty="0"/>
          </a:p>
        </p:txBody>
      </p:sp>
      <p:sp>
        <p:nvSpPr>
          <p:cNvPr id="29" name="Text 27"/>
          <p:cNvSpPr/>
          <p:nvPr/>
        </p:nvSpPr>
        <p:spPr>
          <a:xfrm>
            <a:off x="457200" y="4846320"/>
            <a:ext cx="68580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Sizing, Not Signaling  ·  Pavlos Giannakis  ·  FINM 33150 (Spring 2026)</a:t>
            </a:r>
            <a:endParaRPr lang="en-US" sz="900" dirty="0"/>
          </a:p>
        </p:txBody>
      </p:sp>
      <p:sp>
        <p:nvSpPr>
          <p:cNvPr id="30" name="Text 28"/>
          <p:cNvSpPr/>
          <p:nvPr/>
        </p:nvSpPr>
        <p:spPr>
          <a:xfrm>
            <a:off x="8229600" y="4846320"/>
            <a:ext cx="64008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 /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indent="0" marL="0">
              <a:buNone/>
            </a:pPr>
            <a:r>
              <a:rPr lang="en-US" sz="2800" b="1" dirty="0">
                <a:solidFill>
                  <a:srgbClr val="1A3A5F"/>
                </a:solidFill>
                <a:latin typeface="Calibri" pitchFamily="34" charset="0"/>
                <a:ea typeface="Calibri" pitchFamily="34" charset="-122"/>
                <a:cs typeface="Calibri" pitchFamily="34" charset="-120"/>
              </a:rPr>
              <a:t>Discipline: frozen parameters</a:t>
            </a:r>
            <a:endParaRPr lang="en-US" sz="2800" dirty="0"/>
          </a:p>
        </p:txBody>
      </p:sp>
      <p:sp>
        <p:nvSpPr>
          <p:cNvPr id="3" name="Text 1"/>
          <p:cNvSpPr/>
          <p:nvPr/>
        </p:nvSpPr>
        <p:spPr>
          <a:xfrm>
            <a:off x="457200" y="713232"/>
            <a:ext cx="8229600" cy="292608"/>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All free choices tuned on 2008-2017, then frozen before 2018 is touched</a:t>
            </a:r>
            <a:endParaRPr lang="en-US" sz="1300" dirty="0"/>
          </a:p>
        </p:txBody>
      </p:sp>
      <p:sp>
        <p:nvSpPr>
          <p:cNvPr id="4" name="Shape 2"/>
          <p:cNvSpPr/>
          <p:nvPr/>
        </p:nvSpPr>
        <p:spPr>
          <a:xfrm>
            <a:off x="457200" y="1280160"/>
            <a:ext cx="3931920" cy="2377440"/>
          </a:xfrm>
          <a:prstGeom prst="rect">
            <a:avLst/>
          </a:prstGeom>
          <a:solidFill>
            <a:srgbClr val="F7F8FA"/>
          </a:solidFill>
          <a:ln w="6350">
            <a:solidFill>
              <a:srgbClr val="E5E7EB"/>
            </a:solidFill>
            <a:prstDash val="solid"/>
          </a:ln>
        </p:spPr>
      </p:sp>
      <p:sp>
        <p:nvSpPr>
          <p:cNvPr id="5" name="Shape 3"/>
          <p:cNvSpPr/>
          <p:nvPr/>
        </p:nvSpPr>
        <p:spPr>
          <a:xfrm>
            <a:off x="457200" y="1280160"/>
            <a:ext cx="3931920" cy="73152"/>
          </a:xfrm>
          <a:prstGeom prst="rect">
            <a:avLst/>
          </a:prstGeom>
          <a:solidFill>
            <a:srgbClr val="1A3A5F"/>
          </a:solidFill>
          <a:ln w="12700">
            <a:solidFill>
              <a:srgbClr val="1A3A5F"/>
            </a:solidFill>
            <a:prstDash val="solid"/>
          </a:ln>
        </p:spPr>
      </p:sp>
      <p:sp>
        <p:nvSpPr>
          <p:cNvPr id="6" name="Text 4"/>
          <p:cNvSpPr/>
          <p:nvPr/>
        </p:nvSpPr>
        <p:spPr>
          <a:xfrm>
            <a:off x="640080" y="1417320"/>
            <a:ext cx="3657600" cy="365760"/>
          </a:xfrm>
          <a:prstGeom prst="rect">
            <a:avLst/>
          </a:prstGeom>
          <a:noFill/>
          <a:ln/>
        </p:spPr>
        <p:txBody>
          <a:bodyPr wrap="square" lIns="0" tIns="0" rIns="0" bIns="0" rtlCol="0" anchor="ctr"/>
          <a:lstStyle/>
          <a:p>
            <a:pPr indent="0" marL="0">
              <a:buNone/>
            </a:pPr>
            <a:r>
              <a:rPr lang="en-US" sz="1600" b="1" dirty="0">
                <a:solidFill>
                  <a:srgbClr val="1A3A5F"/>
                </a:solidFill>
                <a:latin typeface="Calibri" pitchFamily="34" charset="0"/>
                <a:ea typeface="Calibri" pitchFamily="34" charset="-122"/>
                <a:cs typeface="Calibri" pitchFamily="34" charset="-120"/>
              </a:rPr>
              <a:t>In-sample  ·  2008-2017</a:t>
            </a:r>
            <a:endParaRPr lang="en-US" sz="1600" dirty="0"/>
          </a:p>
        </p:txBody>
      </p:sp>
      <p:sp>
        <p:nvSpPr>
          <p:cNvPr id="7" name="Text 5"/>
          <p:cNvSpPr/>
          <p:nvPr/>
        </p:nvSpPr>
        <p:spPr>
          <a:xfrm>
            <a:off x="640080" y="1783080"/>
            <a:ext cx="3657600" cy="32004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Design window. Parameters tuned here.</a:t>
            </a:r>
            <a:endParaRPr lang="en-US" sz="1100" dirty="0"/>
          </a:p>
        </p:txBody>
      </p:sp>
      <p:sp>
        <p:nvSpPr>
          <p:cNvPr id="8" name="Text 6"/>
          <p:cNvSpPr/>
          <p:nvPr/>
        </p:nvSpPr>
        <p:spPr>
          <a:xfrm>
            <a:off x="640080" y="2194560"/>
            <a:ext cx="3657600" cy="1371600"/>
          </a:xfrm>
          <a:prstGeom prst="rect">
            <a:avLst/>
          </a:prstGeom>
          <a:noFill/>
          <a:ln/>
        </p:spPr>
        <p:txBody>
          <a:bodyPr wrap="square" lIns="0" tIns="0" rIns="0" bIns="0" rtlCol="0" anchor="ctr"/>
          <a:lstStyle/>
          <a:p>
            <a:pPr indent="0" marL="0">
              <a:spcAft>
                <a:spcPts val="300"/>
              </a:spcAft>
              <a:buNone/>
            </a:pPr>
            <a:r>
              <a:rPr lang="en-US" sz="1300" dirty="0">
                <a:solidFill>
                  <a:srgbClr val="0C111D"/>
                </a:solidFill>
                <a:latin typeface="Calibri" pitchFamily="34" charset="0"/>
                <a:ea typeface="Calibri" pitchFamily="34" charset="-122"/>
                <a:cs typeface="Calibri" pitchFamily="34" charset="-120"/>
              </a:rPr>
              <a:t>Sharpe </a:t>
            </a:r>
            <a:pPr indent="0" marL="0">
              <a:spcAft>
                <a:spcPts val="300"/>
              </a:spcAft>
              <a:buNone/>
            </a:pPr>
            <a:r>
              <a:rPr lang="en-US" sz="1300" b="1" dirty="0">
                <a:solidFill>
                  <a:srgbClr val="1B7C89"/>
                </a:solidFill>
                <a:latin typeface="Calibri" pitchFamily="34" charset="0"/>
                <a:ea typeface="Calibri" pitchFamily="34" charset="-122"/>
                <a:cs typeface="Calibri" pitchFamily="34" charset="-120"/>
              </a:rPr>
              <a:t>+0.47</a:t>
            </a:r>
            <a:endParaRPr lang="en-US" sz="1300" dirty="0"/>
          </a:p>
          <a:p>
            <a:pPr indent="0" marL="0">
              <a:spcAft>
                <a:spcPts val="300"/>
              </a:spcAft>
              <a:buNone/>
            </a:pPr>
            <a:r>
              <a:rPr lang="en-US" sz="1300" dirty="0">
                <a:solidFill>
                  <a:srgbClr val="0C111D"/>
                </a:solidFill>
                <a:latin typeface="Calibri" pitchFamily="34" charset="0"/>
                <a:ea typeface="Calibri" pitchFamily="34" charset="-122"/>
                <a:cs typeface="Calibri" pitchFamily="34" charset="-120"/>
              </a:rPr>
              <a:t>Total return </a:t>
            </a:r>
            <a:pPr indent="0" marL="0">
              <a:spcAft>
                <a:spcPts val="300"/>
              </a:spcAft>
              <a:buNone/>
            </a:pPr>
            <a:r>
              <a:rPr lang="en-US" sz="1300" b="1" dirty="0">
                <a:solidFill>
                  <a:srgbClr val="0C111D"/>
                </a:solidFill>
                <a:latin typeface="Calibri" pitchFamily="34" charset="0"/>
                <a:ea typeface="Calibri" pitchFamily="34" charset="-122"/>
                <a:cs typeface="Calibri" pitchFamily="34" charset="-120"/>
              </a:rPr>
              <a:t>+34.1%</a:t>
            </a:r>
            <a:endParaRPr lang="en-US" sz="1300" dirty="0"/>
          </a:p>
          <a:p>
            <a:pPr indent="0" marL="0">
              <a:spcAft>
                <a:spcPts val="300"/>
              </a:spcAft>
              <a:buNone/>
            </a:pPr>
            <a:r>
              <a:rPr lang="en-US" sz="1300" dirty="0">
                <a:solidFill>
                  <a:srgbClr val="0C111D"/>
                </a:solidFill>
                <a:latin typeface="Calibri" pitchFamily="34" charset="0"/>
                <a:ea typeface="Calibri" pitchFamily="34" charset="-122"/>
                <a:cs typeface="Calibri" pitchFamily="34" charset="-120"/>
              </a:rPr>
              <a:t>Max drawdown </a:t>
            </a:r>
            <a:pPr indent="0" marL="0">
              <a:spcAft>
                <a:spcPts val="300"/>
              </a:spcAft>
              <a:buNone/>
            </a:pPr>
            <a:r>
              <a:rPr lang="en-US" sz="1300" b="1" dirty="0">
                <a:solidFill>
                  <a:srgbClr val="D4351C"/>
                </a:solidFill>
                <a:latin typeface="Calibri" pitchFamily="34" charset="0"/>
                <a:ea typeface="Calibri" pitchFamily="34" charset="-122"/>
                <a:cs typeface="Calibri" pitchFamily="34" charset="-120"/>
              </a:rPr>
              <a:t>-11.3%</a:t>
            </a:r>
            <a:endParaRPr lang="en-US" sz="1300" dirty="0"/>
          </a:p>
          <a:p>
            <a:pPr indent="0" marL="0">
              <a:spcAft>
                <a:spcPts val="300"/>
              </a:spcAft>
              <a:buNone/>
            </a:pPr>
            <a:r>
              <a:rPr lang="en-US" sz="1300" dirty="0">
                <a:solidFill>
                  <a:srgbClr val="0C111D"/>
                </a:solidFill>
                <a:latin typeface="Calibri" pitchFamily="34" charset="0"/>
                <a:ea typeface="Calibri" pitchFamily="34" charset="-122"/>
                <a:cs typeface="Calibri" pitchFamily="34" charset="-120"/>
              </a:rPr>
              <a:t>Annualised return </a:t>
            </a:r>
            <a:pPr indent="0" marL="0">
              <a:spcAft>
                <a:spcPts val="300"/>
              </a:spcAft>
              <a:buNone/>
            </a:pPr>
            <a:r>
              <a:rPr lang="en-US" sz="1300" b="1" dirty="0">
                <a:solidFill>
                  <a:srgbClr val="0C111D"/>
                </a:solidFill>
                <a:latin typeface="Calibri" pitchFamily="34" charset="0"/>
                <a:ea typeface="Calibri" pitchFamily="34" charset="-122"/>
                <a:cs typeface="Calibri" pitchFamily="34" charset="-120"/>
              </a:rPr>
              <a:t>+3.17%</a:t>
            </a:r>
            <a:endParaRPr lang="en-US" sz="1300" dirty="0"/>
          </a:p>
        </p:txBody>
      </p:sp>
      <p:sp>
        <p:nvSpPr>
          <p:cNvPr id="9" name="Shape 7"/>
          <p:cNvSpPr/>
          <p:nvPr/>
        </p:nvSpPr>
        <p:spPr>
          <a:xfrm>
            <a:off x="4754880" y="1280160"/>
            <a:ext cx="3931920" cy="2377440"/>
          </a:xfrm>
          <a:prstGeom prst="rect">
            <a:avLst/>
          </a:prstGeom>
          <a:solidFill>
            <a:srgbClr val="F7F8FA"/>
          </a:solidFill>
          <a:ln w="6350">
            <a:solidFill>
              <a:srgbClr val="E5E7EB"/>
            </a:solidFill>
            <a:prstDash val="solid"/>
          </a:ln>
        </p:spPr>
      </p:sp>
      <p:sp>
        <p:nvSpPr>
          <p:cNvPr id="10" name="Shape 8"/>
          <p:cNvSpPr/>
          <p:nvPr/>
        </p:nvSpPr>
        <p:spPr>
          <a:xfrm>
            <a:off x="4754880" y="1280160"/>
            <a:ext cx="3931920" cy="73152"/>
          </a:xfrm>
          <a:prstGeom prst="rect">
            <a:avLst/>
          </a:prstGeom>
          <a:solidFill>
            <a:srgbClr val="F4B400"/>
          </a:solidFill>
          <a:ln w="12700">
            <a:solidFill>
              <a:srgbClr val="F4B400"/>
            </a:solidFill>
            <a:prstDash val="solid"/>
          </a:ln>
        </p:spPr>
      </p:sp>
      <p:sp>
        <p:nvSpPr>
          <p:cNvPr id="11" name="Text 9"/>
          <p:cNvSpPr/>
          <p:nvPr/>
        </p:nvSpPr>
        <p:spPr>
          <a:xfrm>
            <a:off x="4937760" y="1417320"/>
            <a:ext cx="3657600" cy="365760"/>
          </a:xfrm>
          <a:prstGeom prst="rect">
            <a:avLst/>
          </a:prstGeom>
          <a:noFill/>
          <a:ln/>
        </p:spPr>
        <p:txBody>
          <a:bodyPr wrap="square" lIns="0" tIns="0" rIns="0" bIns="0" rtlCol="0" anchor="ctr"/>
          <a:lstStyle/>
          <a:p>
            <a:pPr indent="0" marL="0">
              <a:buNone/>
            </a:pPr>
            <a:r>
              <a:rPr lang="en-US" sz="1600" b="1" dirty="0">
                <a:solidFill>
                  <a:srgbClr val="F4B400"/>
                </a:solidFill>
                <a:latin typeface="Calibri" pitchFamily="34" charset="0"/>
                <a:ea typeface="Calibri" pitchFamily="34" charset="-122"/>
                <a:cs typeface="Calibri" pitchFamily="34" charset="-120"/>
              </a:rPr>
              <a:t>Out-of-sample  ·  2018-2024</a:t>
            </a:r>
            <a:endParaRPr lang="en-US" sz="1600" dirty="0"/>
          </a:p>
        </p:txBody>
      </p:sp>
      <p:sp>
        <p:nvSpPr>
          <p:cNvPr id="12" name="Text 10"/>
          <p:cNvSpPr/>
          <p:nvPr/>
        </p:nvSpPr>
        <p:spPr>
          <a:xfrm>
            <a:off x="4937760" y="1783080"/>
            <a:ext cx="3657600" cy="32004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Held out entirely. No re-tuning after end-2017.</a:t>
            </a:r>
            <a:endParaRPr lang="en-US" sz="1100" dirty="0"/>
          </a:p>
        </p:txBody>
      </p:sp>
      <p:sp>
        <p:nvSpPr>
          <p:cNvPr id="13" name="Text 11"/>
          <p:cNvSpPr/>
          <p:nvPr/>
        </p:nvSpPr>
        <p:spPr>
          <a:xfrm>
            <a:off x="4937760" y="2194560"/>
            <a:ext cx="3657600" cy="1371600"/>
          </a:xfrm>
          <a:prstGeom prst="rect">
            <a:avLst/>
          </a:prstGeom>
          <a:noFill/>
          <a:ln/>
        </p:spPr>
        <p:txBody>
          <a:bodyPr wrap="square" lIns="0" tIns="0" rIns="0" bIns="0" rtlCol="0" anchor="ctr"/>
          <a:lstStyle/>
          <a:p>
            <a:pPr indent="0" marL="0">
              <a:spcAft>
                <a:spcPts val="300"/>
              </a:spcAft>
              <a:buNone/>
            </a:pPr>
            <a:r>
              <a:rPr lang="en-US" sz="1300" dirty="0">
                <a:solidFill>
                  <a:srgbClr val="0C111D"/>
                </a:solidFill>
                <a:latin typeface="Calibri" pitchFamily="34" charset="0"/>
                <a:ea typeface="Calibri" pitchFamily="34" charset="-122"/>
                <a:cs typeface="Calibri" pitchFamily="34" charset="-120"/>
              </a:rPr>
              <a:t>Sharpe </a:t>
            </a:r>
            <a:pPr indent="0" marL="0">
              <a:spcAft>
                <a:spcPts val="300"/>
              </a:spcAft>
              <a:buNone/>
            </a:pPr>
            <a:r>
              <a:rPr lang="en-US" sz="1300" b="1" dirty="0">
                <a:solidFill>
                  <a:srgbClr val="1B7C89"/>
                </a:solidFill>
                <a:latin typeface="Calibri" pitchFamily="34" charset="0"/>
                <a:ea typeface="Calibri" pitchFamily="34" charset="-122"/>
                <a:cs typeface="Calibri" pitchFamily="34" charset="-120"/>
              </a:rPr>
              <a:t>+0.28</a:t>
            </a:r>
            <a:endParaRPr lang="en-US" sz="1300" dirty="0"/>
          </a:p>
          <a:p>
            <a:pPr indent="0" marL="0">
              <a:spcAft>
                <a:spcPts val="300"/>
              </a:spcAft>
              <a:buNone/>
            </a:pPr>
            <a:r>
              <a:rPr lang="en-US" sz="1300" dirty="0">
                <a:solidFill>
                  <a:srgbClr val="0C111D"/>
                </a:solidFill>
                <a:latin typeface="Calibri" pitchFamily="34" charset="0"/>
                <a:ea typeface="Calibri" pitchFamily="34" charset="-122"/>
                <a:cs typeface="Calibri" pitchFamily="34" charset="-120"/>
              </a:rPr>
              <a:t>Total return </a:t>
            </a:r>
            <a:pPr indent="0" marL="0">
              <a:spcAft>
                <a:spcPts val="300"/>
              </a:spcAft>
              <a:buNone/>
            </a:pPr>
            <a:r>
              <a:rPr lang="en-US" sz="1300" b="1" dirty="0">
                <a:solidFill>
                  <a:srgbClr val="0C111D"/>
                </a:solidFill>
                <a:latin typeface="Calibri" pitchFamily="34" charset="0"/>
                <a:ea typeface="Calibri" pitchFamily="34" charset="-122"/>
                <a:cs typeface="Calibri" pitchFamily="34" charset="-120"/>
              </a:rPr>
              <a:t>+9.8%</a:t>
            </a:r>
            <a:endParaRPr lang="en-US" sz="1300" dirty="0"/>
          </a:p>
          <a:p>
            <a:pPr indent="0" marL="0">
              <a:spcAft>
                <a:spcPts val="300"/>
              </a:spcAft>
              <a:buNone/>
            </a:pPr>
            <a:r>
              <a:rPr lang="en-US" sz="1300" dirty="0">
                <a:solidFill>
                  <a:srgbClr val="0C111D"/>
                </a:solidFill>
                <a:latin typeface="Calibri" pitchFamily="34" charset="0"/>
                <a:ea typeface="Calibri" pitchFamily="34" charset="-122"/>
                <a:cs typeface="Calibri" pitchFamily="34" charset="-120"/>
              </a:rPr>
              <a:t>Max drawdown </a:t>
            </a:r>
            <a:pPr indent="0" marL="0">
              <a:spcAft>
                <a:spcPts val="300"/>
              </a:spcAft>
              <a:buNone/>
            </a:pPr>
            <a:r>
              <a:rPr lang="en-US" sz="1300" b="1" dirty="0">
                <a:solidFill>
                  <a:srgbClr val="D4351C"/>
                </a:solidFill>
                <a:latin typeface="Calibri" pitchFamily="34" charset="0"/>
                <a:ea typeface="Calibri" pitchFamily="34" charset="-122"/>
                <a:cs typeface="Calibri" pitchFamily="34" charset="-120"/>
              </a:rPr>
              <a:t>-14.5%</a:t>
            </a:r>
            <a:endParaRPr lang="en-US" sz="1300" dirty="0"/>
          </a:p>
          <a:p>
            <a:pPr indent="0" marL="0">
              <a:spcAft>
                <a:spcPts val="300"/>
              </a:spcAft>
              <a:buNone/>
            </a:pPr>
            <a:r>
              <a:rPr lang="en-US" sz="1300" dirty="0">
                <a:solidFill>
                  <a:srgbClr val="0C111D"/>
                </a:solidFill>
                <a:latin typeface="Calibri" pitchFamily="34" charset="0"/>
                <a:ea typeface="Calibri" pitchFamily="34" charset="-122"/>
                <a:cs typeface="Calibri" pitchFamily="34" charset="-120"/>
              </a:rPr>
              <a:t>Annualised return </a:t>
            </a:r>
            <a:pPr indent="0" marL="0">
              <a:spcAft>
                <a:spcPts val="300"/>
              </a:spcAft>
              <a:buNone/>
            </a:pPr>
            <a:r>
              <a:rPr lang="en-US" sz="1300" b="1" dirty="0">
                <a:solidFill>
                  <a:srgbClr val="0C111D"/>
                </a:solidFill>
                <a:latin typeface="Calibri" pitchFamily="34" charset="0"/>
                <a:ea typeface="Calibri" pitchFamily="34" charset="-122"/>
                <a:cs typeface="Calibri" pitchFamily="34" charset="-120"/>
              </a:rPr>
              <a:t>+1.59%</a:t>
            </a:r>
            <a:endParaRPr lang="en-US" sz="1300" dirty="0"/>
          </a:p>
        </p:txBody>
      </p:sp>
      <p:sp>
        <p:nvSpPr>
          <p:cNvPr id="14" name="Text 12"/>
          <p:cNvSpPr/>
          <p:nvPr/>
        </p:nvSpPr>
        <p:spPr>
          <a:xfrm>
            <a:off x="457200" y="3840480"/>
            <a:ext cx="8229600" cy="868680"/>
          </a:xfrm>
          <a:prstGeom prst="rect">
            <a:avLst/>
          </a:prstGeom>
          <a:noFill/>
          <a:ln/>
        </p:spPr>
        <p:txBody>
          <a:bodyPr wrap="square" lIns="0" tIns="0" rIns="0" bIns="0" rtlCol="0" anchor="ctr"/>
          <a:lstStyle/>
          <a:p>
            <a:pPr indent="0" marL="0">
              <a:buNone/>
            </a:pPr>
            <a:r>
              <a:rPr lang="en-US" sz="1200" b="1" dirty="0">
                <a:solidFill>
                  <a:srgbClr val="1A3A5F"/>
                </a:solidFill>
                <a:latin typeface="Calibri" pitchFamily="34" charset="0"/>
                <a:ea typeface="Calibri" pitchFamily="34" charset="-122"/>
                <a:cs typeface="Calibri" pitchFamily="34" charset="-120"/>
              </a:rPr>
              <a:t>Performance decays from IS to OOS but stays positive. </a:t>
            </a:r>
            <a:pPr indent="0" marL="0">
              <a:buNone/>
            </a:pPr>
            <a:r>
              <a:rPr lang="en-US" sz="1200" dirty="0">
                <a:solidFill>
                  <a:srgbClr val="0C111D"/>
                </a:solidFill>
                <a:latin typeface="Calibri" pitchFamily="34" charset="0"/>
                <a:ea typeface="Calibri" pitchFamily="34" charset="-122"/>
                <a:cs typeface="Calibri" pitchFamily="34" charset="-120"/>
              </a:rPr>
              <a:t>The held-out result is a test of the fixed rule, not a retuned version of it. </a:t>
            </a:r>
            <a:pPr indent="0" marL="0">
              <a:buNone/>
            </a:pPr>
            <a:r>
              <a:rPr lang="en-US" sz="1200" i="1" dirty="0">
                <a:solidFill>
                  <a:srgbClr val="64748B"/>
                </a:solidFill>
                <a:latin typeface="Calibri" pitchFamily="34" charset="0"/>
                <a:ea typeface="Calibri" pitchFamily="34" charset="-122"/>
                <a:cs typeface="Calibri" pitchFamily="34" charset="-120"/>
              </a:rPr>
              <a:t>iid-bootstrap intervals overlap (next slide), so the decline is moderate, not a complete collapse.</a:t>
            </a:r>
            <a:endParaRPr lang="en-US" sz="1200" dirty="0"/>
          </a:p>
        </p:txBody>
      </p:sp>
      <p:sp>
        <p:nvSpPr>
          <p:cNvPr id="15" name="Text 13"/>
          <p:cNvSpPr/>
          <p:nvPr/>
        </p:nvSpPr>
        <p:spPr>
          <a:xfrm>
            <a:off x="457200" y="4846320"/>
            <a:ext cx="68580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Sizing, Not Signaling  ·  Pavlos Giannakis  ·  FINM 33150 (Spring 2026)</a:t>
            </a:r>
            <a:endParaRPr lang="en-US" sz="900" dirty="0"/>
          </a:p>
        </p:txBody>
      </p:sp>
      <p:sp>
        <p:nvSpPr>
          <p:cNvPr id="16" name="Text 14"/>
          <p:cNvSpPr/>
          <p:nvPr/>
        </p:nvSpPr>
        <p:spPr>
          <a:xfrm>
            <a:off x="8229600" y="4846320"/>
            <a:ext cx="64008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 /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indent="0" marL="0">
              <a:buNone/>
            </a:pPr>
            <a:r>
              <a:rPr lang="en-US" sz="2800" b="1" dirty="0">
                <a:solidFill>
                  <a:srgbClr val="1A3A5F"/>
                </a:solidFill>
                <a:latin typeface="Calibri" pitchFamily="34" charset="0"/>
                <a:ea typeface="Calibri" pitchFamily="34" charset="-122"/>
                <a:cs typeface="Calibri" pitchFamily="34" charset="-120"/>
              </a:rPr>
              <a:t>Headline result</a:t>
            </a:r>
            <a:endParaRPr lang="en-US" sz="2800" dirty="0"/>
          </a:p>
        </p:txBody>
      </p:sp>
      <p:sp>
        <p:nvSpPr>
          <p:cNvPr id="3" name="Text 1"/>
          <p:cNvSpPr/>
          <p:nvPr/>
        </p:nvSpPr>
        <p:spPr>
          <a:xfrm>
            <a:off x="457200" y="713232"/>
            <a:ext cx="8229600" cy="292608"/>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USD 1.00M -&gt; USD 1.48M, max drawdown -14.5%, full-sample Sharpe +0.40</a:t>
            </a:r>
            <a:endParaRPr lang="en-US" sz="1300" dirty="0"/>
          </a:p>
        </p:txBody>
      </p:sp>
      <p:pic>
        <p:nvPicPr>
          <p:cNvPr id="4" name="Image 0" descr="/sessions/trusting-eloquent-euler/mnt/outputs/deck_figs/028__figure_6_headline_result.png">    </p:cNvPr>
          <p:cNvPicPr>
            <a:picLocks noChangeAspect="1"/>
          </p:cNvPicPr>
          <p:nvPr/>
        </p:nvPicPr>
        <p:blipFill>
          <a:blip r:embed="rId1"/>
          <a:stretch>
            <a:fillRect/>
          </a:stretch>
        </p:blipFill>
        <p:spPr>
          <a:xfrm>
            <a:off x="365760" y="1234440"/>
            <a:ext cx="6217920" cy="3246120"/>
          </a:xfrm>
          <a:prstGeom prst="rect">
            <a:avLst/>
          </a:prstGeom>
        </p:spPr>
      </p:pic>
      <p:sp>
        <p:nvSpPr>
          <p:cNvPr id="5" name="Shape 2"/>
          <p:cNvSpPr/>
          <p:nvPr/>
        </p:nvSpPr>
        <p:spPr>
          <a:xfrm>
            <a:off x="6720840" y="1325880"/>
            <a:ext cx="2057400" cy="713232"/>
          </a:xfrm>
          <a:prstGeom prst="rect">
            <a:avLst/>
          </a:prstGeom>
          <a:solidFill>
            <a:srgbClr val="F7F8FA"/>
          </a:solidFill>
          <a:ln w="6350">
            <a:solidFill>
              <a:srgbClr val="E5E7EB"/>
            </a:solidFill>
            <a:prstDash val="solid"/>
          </a:ln>
        </p:spPr>
      </p:sp>
      <p:sp>
        <p:nvSpPr>
          <p:cNvPr id="6" name="Shape 3"/>
          <p:cNvSpPr/>
          <p:nvPr/>
        </p:nvSpPr>
        <p:spPr>
          <a:xfrm>
            <a:off x="6720840" y="1325880"/>
            <a:ext cx="54864" cy="713232"/>
          </a:xfrm>
          <a:prstGeom prst="rect">
            <a:avLst/>
          </a:prstGeom>
          <a:solidFill>
            <a:srgbClr val="1A3A5F"/>
          </a:solidFill>
          <a:ln w="12700">
            <a:solidFill>
              <a:srgbClr val="1A3A5F"/>
            </a:solidFill>
            <a:prstDash val="solid"/>
          </a:ln>
        </p:spPr>
      </p:sp>
      <p:sp>
        <p:nvSpPr>
          <p:cNvPr id="7" name="Text 4"/>
          <p:cNvSpPr/>
          <p:nvPr/>
        </p:nvSpPr>
        <p:spPr>
          <a:xfrm>
            <a:off x="6858000" y="1362456"/>
            <a:ext cx="182880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TERMINAL WEALTH</a:t>
            </a:r>
            <a:endParaRPr lang="en-US" sz="900" dirty="0"/>
          </a:p>
        </p:txBody>
      </p:sp>
      <p:sp>
        <p:nvSpPr>
          <p:cNvPr id="8" name="Text 5"/>
          <p:cNvSpPr/>
          <p:nvPr/>
        </p:nvSpPr>
        <p:spPr>
          <a:xfrm>
            <a:off x="6858000" y="1508760"/>
            <a:ext cx="1828800" cy="347472"/>
          </a:xfrm>
          <a:prstGeom prst="rect">
            <a:avLst/>
          </a:prstGeom>
          <a:noFill/>
          <a:ln/>
        </p:spPr>
        <p:txBody>
          <a:bodyPr wrap="square" lIns="0" tIns="0" rIns="0" bIns="0" rtlCol="0" anchor="ctr"/>
          <a:lstStyle/>
          <a:p>
            <a:pPr indent="0" marL="0">
              <a:buNone/>
            </a:pPr>
            <a:r>
              <a:rPr lang="en-US" sz="1900" b="1" dirty="0">
                <a:solidFill>
                  <a:srgbClr val="1A3A5F"/>
                </a:solidFill>
                <a:latin typeface="Calibri" pitchFamily="34" charset="0"/>
                <a:ea typeface="Calibri" pitchFamily="34" charset="-122"/>
                <a:cs typeface="Calibri" pitchFamily="34" charset="-120"/>
              </a:rPr>
              <a:t>USD 1.48M</a:t>
            </a:r>
            <a:endParaRPr lang="en-US" sz="1900" dirty="0"/>
          </a:p>
        </p:txBody>
      </p:sp>
      <p:sp>
        <p:nvSpPr>
          <p:cNvPr id="9" name="Text 6"/>
          <p:cNvSpPr/>
          <p:nvPr/>
        </p:nvSpPr>
        <p:spPr>
          <a:xfrm>
            <a:off x="6858000" y="1828800"/>
            <a:ext cx="1828800"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benchmark USD 2.64M</a:t>
            </a:r>
            <a:endParaRPr lang="en-US" sz="900" dirty="0"/>
          </a:p>
        </p:txBody>
      </p:sp>
      <p:sp>
        <p:nvSpPr>
          <p:cNvPr id="10" name="Shape 7"/>
          <p:cNvSpPr/>
          <p:nvPr/>
        </p:nvSpPr>
        <p:spPr>
          <a:xfrm>
            <a:off x="6720840" y="2103120"/>
            <a:ext cx="2057400" cy="713232"/>
          </a:xfrm>
          <a:prstGeom prst="rect">
            <a:avLst/>
          </a:prstGeom>
          <a:solidFill>
            <a:srgbClr val="F7F8FA"/>
          </a:solidFill>
          <a:ln w="6350">
            <a:solidFill>
              <a:srgbClr val="E5E7EB"/>
            </a:solidFill>
            <a:prstDash val="solid"/>
          </a:ln>
        </p:spPr>
      </p:sp>
      <p:sp>
        <p:nvSpPr>
          <p:cNvPr id="11" name="Shape 8"/>
          <p:cNvSpPr/>
          <p:nvPr/>
        </p:nvSpPr>
        <p:spPr>
          <a:xfrm>
            <a:off x="6720840" y="2103120"/>
            <a:ext cx="54864" cy="713232"/>
          </a:xfrm>
          <a:prstGeom prst="rect">
            <a:avLst/>
          </a:prstGeom>
          <a:solidFill>
            <a:srgbClr val="D4351C"/>
          </a:solidFill>
          <a:ln w="12700">
            <a:solidFill>
              <a:srgbClr val="D4351C"/>
            </a:solidFill>
            <a:prstDash val="solid"/>
          </a:ln>
        </p:spPr>
      </p:sp>
      <p:sp>
        <p:nvSpPr>
          <p:cNvPr id="12" name="Text 9"/>
          <p:cNvSpPr/>
          <p:nvPr/>
        </p:nvSpPr>
        <p:spPr>
          <a:xfrm>
            <a:off x="6858000" y="2139696"/>
            <a:ext cx="182880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MAX DRAWDOWN</a:t>
            </a:r>
            <a:endParaRPr lang="en-US" sz="900" dirty="0"/>
          </a:p>
        </p:txBody>
      </p:sp>
      <p:sp>
        <p:nvSpPr>
          <p:cNvPr id="13" name="Text 10"/>
          <p:cNvSpPr/>
          <p:nvPr/>
        </p:nvSpPr>
        <p:spPr>
          <a:xfrm>
            <a:off x="6858000" y="2286000"/>
            <a:ext cx="1828800" cy="347472"/>
          </a:xfrm>
          <a:prstGeom prst="rect">
            <a:avLst/>
          </a:prstGeom>
          <a:noFill/>
          <a:ln/>
        </p:spPr>
        <p:txBody>
          <a:bodyPr wrap="square" lIns="0" tIns="0" rIns="0" bIns="0" rtlCol="0" anchor="ctr"/>
          <a:lstStyle/>
          <a:p>
            <a:pPr indent="0" marL="0">
              <a:buNone/>
            </a:pPr>
            <a:r>
              <a:rPr lang="en-US" sz="1900" b="1" dirty="0">
                <a:solidFill>
                  <a:srgbClr val="D4351C"/>
                </a:solidFill>
                <a:latin typeface="Calibri" pitchFamily="34" charset="0"/>
                <a:ea typeface="Calibri" pitchFamily="34" charset="-122"/>
                <a:cs typeface="Calibri" pitchFamily="34" charset="-120"/>
              </a:rPr>
              <a:t>-14.5%</a:t>
            </a:r>
            <a:endParaRPr lang="en-US" sz="1900" dirty="0"/>
          </a:p>
        </p:txBody>
      </p:sp>
      <p:sp>
        <p:nvSpPr>
          <p:cNvPr id="14" name="Text 11"/>
          <p:cNvSpPr/>
          <p:nvPr/>
        </p:nvSpPr>
        <p:spPr>
          <a:xfrm>
            <a:off x="6858000" y="2606040"/>
            <a:ext cx="1828800"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benchmark -45.2%</a:t>
            </a:r>
            <a:endParaRPr lang="en-US" sz="900" dirty="0"/>
          </a:p>
        </p:txBody>
      </p:sp>
      <p:sp>
        <p:nvSpPr>
          <p:cNvPr id="15" name="Shape 12"/>
          <p:cNvSpPr/>
          <p:nvPr/>
        </p:nvSpPr>
        <p:spPr>
          <a:xfrm>
            <a:off x="6720840" y="2880360"/>
            <a:ext cx="2057400" cy="713232"/>
          </a:xfrm>
          <a:prstGeom prst="rect">
            <a:avLst/>
          </a:prstGeom>
          <a:solidFill>
            <a:srgbClr val="F7F8FA"/>
          </a:solidFill>
          <a:ln w="6350">
            <a:solidFill>
              <a:srgbClr val="E5E7EB"/>
            </a:solidFill>
            <a:prstDash val="solid"/>
          </a:ln>
        </p:spPr>
      </p:sp>
      <p:sp>
        <p:nvSpPr>
          <p:cNvPr id="16" name="Shape 13"/>
          <p:cNvSpPr/>
          <p:nvPr/>
        </p:nvSpPr>
        <p:spPr>
          <a:xfrm>
            <a:off x="6720840" y="2880360"/>
            <a:ext cx="54864" cy="713232"/>
          </a:xfrm>
          <a:prstGeom prst="rect">
            <a:avLst/>
          </a:prstGeom>
          <a:solidFill>
            <a:srgbClr val="1B7C89"/>
          </a:solidFill>
          <a:ln w="12700">
            <a:solidFill>
              <a:srgbClr val="1B7C89"/>
            </a:solidFill>
            <a:prstDash val="solid"/>
          </a:ln>
        </p:spPr>
      </p:sp>
      <p:sp>
        <p:nvSpPr>
          <p:cNvPr id="17" name="Text 14"/>
          <p:cNvSpPr/>
          <p:nvPr/>
        </p:nvSpPr>
        <p:spPr>
          <a:xfrm>
            <a:off x="6858000" y="2916936"/>
            <a:ext cx="182880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FULL-SAMPLE SHARPE</a:t>
            </a:r>
            <a:endParaRPr lang="en-US" sz="900" dirty="0"/>
          </a:p>
        </p:txBody>
      </p:sp>
      <p:sp>
        <p:nvSpPr>
          <p:cNvPr id="18" name="Text 15"/>
          <p:cNvSpPr/>
          <p:nvPr/>
        </p:nvSpPr>
        <p:spPr>
          <a:xfrm>
            <a:off x="6858000" y="3063240"/>
            <a:ext cx="1828800" cy="347472"/>
          </a:xfrm>
          <a:prstGeom prst="rect">
            <a:avLst/>
          </a:prstGeom>
          <a:noFill/>
          <a:ln/>
        </p:spPr>
        <p:txBody>
          <a:bodyPr wrap="square" lIns="0" tIns="0" rIns="0" bIns="0" rtlCol="0" anchor="ctr"/>
          <a:lstStyle/>
          <a:p>
            <a:pPr indent="0" marL="0">
              <a:buNone/>
            </a:pPr>
            <a:r>
              <a:rPr lang="en-US" sz="1900" b="1" dirty="0">
                <a:solidFill>
                  <a:srgbClr val="1B7C89"/>
                </a:solidFill>
                <a:latin typeface="Calibri" pitchFamily="34" charset="0"/>
                <a:ea typeface="Calibri" pitchFamily="34" charset="-122"/>
                <a:cs typeface="Calibri" pitchFamily="34" charset="-120"/>
              </a:rPr>
              <a:t>+0.40</a:t>
            </a:r>
            <a:endParaRPr lang="en-US" sz="1900" dirty="0"/>
          </a:p>
        </p:txBody>
      </p:sp>
      <p:sp>
        <p:nvSpPr>
          <p:cNvPr id="19" name="Text 16"/>
          <p:cNvSpPr/>
          <p:nvPr/>
        </p:nvSpPr>
        <p:spPr>
          <a:xfrm>
            <a:off x="6858000" y="3383280"/>
            <a:ext cx="1828800"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benchmark +0.42</a:t>
            </a:r>
            <a:endParaRPr lang="en-US" sz="900" dirty="0"/>
          </a:p>
        </p:txBody>
      </p:sp>
      <p:sp>
        <p:nvSpPr>
          <p:cNvPr id="20" name="Shape 17"/>
          <p:cNvSpPr/>
          <p:nvPr/>
        </p:nvSpPr>
        <p:spPr>
          <a:xfrm>
            <a:off x="6720840" y="3657600"/>
            <a:ext cx="2057400" cy="713232"/>
          </a:xfrm>
          <a:prstGeom prst="rect">
            <a:avLst/>
          </a:prstGeom>
          <a:solidFill>
            <a:srgbClr val="F7F8FA"/>
          </a:solidFill>
          <a:ln w="6350">
            <a:solidFill>
              <a:srgbClr val="E5E7EB"/>
            </a:solidFill>
            <a:prstDash val="solid"/>
          </a:ln>
        </p:spPr>
      </p:sp>
      <p:sp>
        <p:nvSpPr>
          <p:cNvPr id="21" name="Shape 18"/>
          <p:cNvSpPr/>
          <p:nvPr/>
        </p:nvSpPr>
        <p:spPr>
          <a:xfrm>
            <a:off x="6720840" y="3657600"/>
            <a:ext cx="54864" cy="713232"/>
          </a:xfrm>
          <a:prstGeom prst="rect">
            <a:avLst/>
          </a:prstGeom>
          <a:solidFill>
            <a:srgbClr val="1A3A5F"/>
          </a:solidFill>
          <a:ln w="12700">
            <a:solidFill>
              <a:srgbClr val="1A3A5F"/>
            </a:solidFill>
            <a:prstDash val="solid"/>
          </a:ln>
        </p:spPr>
      </p:sp>
      <p:sp>
        <p:nvSpPr>
          <p:cNvPr id="22" name="Text 19"/>
          <p:cNvSpPr/>
          <p:nvPr/>
        </p:nvSpPr>
        <p:spPr>
          <a:xfrm>
            <a:off x="6858000" y="3694176"/>
            <a:ext cx="182880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ANNUALISED VOL</a:t>
            </a:r>
            <a:endParaRPr lang="en-US" sz="900" dirty="0"/>
          </a:p>
        </p:txBody>
      </p:sp>
      <p:sp>
        <p:nvSpPr>
          <p:cNvPr id="23" name="Text 20"/>
          <p:cNvSpPr/>
          <p:nvPr/>
        </p:nvSpPr>
        <p:spPr>
          <a:xfrm>
            <a:off x="6858000" y="3840480"/>
            <a:ext cx="1828800" cy="347472"/>
          </a:xfrm>
          <a:prstGeom prst="rect">
            <a:avLst/>
          </a:prstGeom>
          <a:noFill/>
          <a:ln/>
        </p:spPr>
        <p:txBody>
          <a:bodyPr wrap="square" lIns="0" tIns="0" rIns="0" bIns="0" rtlCol="0" anchor="ctr"/>
          <a:lstStyle/>
          <a:p>
            <a:pPr indent="0" marL="0">
              <a:buNone/>
            </a:pPr>
            <a:r>
              <a:rPr lang="en-US" sz="1900" b="1" dirty="0">
                <a:solidFill>
                  <a:srgbClr val="1A3A5F"/>
                </a:solidFill>
                <a:latin typeface="Calibri" pitchFamily="34" charset="0"/>
                <a:ea typeface="Calibri" pitchFamily="34" charset="-122"/>
                <a:cs typeface="Calibri" pitchFamily="34" charset="-120"/>
              </a:rPr>
              <a:t>6.4%</a:t>
            </a:r>
            <a:endParaRPr lang="en-US" sz="1900" dirty="0"/>
          </a:p>
        </p:txBody>
      </p:sp>
      <p:sp>
        <p:nvSpPr>
          <p:cNvPr id="24" name="Text 21"/>
          <p:cNvSpPr/>
          <p:nvPr/>
        </p:nvSpPr>
        <p:spPr>
          <a:xfrm>
            <a:off x="6858000" y="4160520"/>
            <a:ext cx="1828800"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benchmark 16.9%</a:t>
            </a:r>
            <a:endParaRPr lang="en-US" sz="900" dirty="0"/>
          </a:p>
        </p:txBody>
      </p:sp>
      <p:sp>
        <p:nvSpPr>
          <p:cNvPr id="25" name="Text 22"/>
          <p:cNvSpPr/>
          <p:nvPr/>
        </p:nvSpPr>
        <p:spPr>
          <a:xfrm>
            <a:off x="365760" y="4526280"/>
            <a:ext cx="8412480" cy="320040"/>
          </a:xfrm>
          <a:prstGeom prst="rect">
            <a:avLst/>
          </a:prstGeom>
          <a:noFill/>
          <a:ln/>
        </p:spPr>
        <p:txBody>
          <a:bodyPr wrap="square" lIns="0" tIns="0" rIns="0" bIns="0" rtlCol="0" anchor="ctr"/>
          <a:lstStyle/>
          <a:p>
            <a:pPr indent="0" marL="0">
              <a:buNone/>
            </a:pPr>
            <a:r>
              <a:rPr lang="en-US" sz="1100" dirty="0">
                <a:solidFill>
                  <a:srgbClr val="0C111D"/>
                </a:solidFill>
                <a:latin typeface="Calibri" pitchFamily="34" charset="0"/>
                <a:ea typeface="Calibri" pitchFamily="34" charset="-122"/>
                <a:cs typeface="Calibri" pitchFamily="34" charset="-120"/>
              </a:rPr>
              <a:t>The strategy trails the benchmark on terminal wealth by ~USD 1.16M. </a:t>
            </a:r>
            <a:pPr indent="0" marL="0">
              <a:buNone/>
            </a:pPr>
            <a:r>
              <a:rPr lang="en-US" sz="1100" i="1" dirty="0">
                <a:solidFill>
                  <a:srgbClr val="64748B"/>
                </a:solidFill>
                <a:latin typeface="Calibri" pitchFamily="34" charset="0"/>
                <a:ea typeface="Calibri" pitchFamily="34" charset="-122"/>
                <a:cs typeface="Calibri" pitchFamily="34" charset="-120"/>
              </a:rPr>
              <a:t>In exchange, the worst peak-to-trough loss is roughly one-third of the benchmark's.</a:t>
            </a:r>
            <a:endParaRPr lang="en-US" sz="1100" dirty="0"/>
          </a:p>
        </p:txBody>
      </p:sp>
      <p:sp>
        <p:nvSpPr>
          <p:cNvPr id="26" name="Text 23"/>
          <p:cNvSpPr/>
          <p:nvPr/>
        </p:nvSpPr>
        <p:spPr>
          <a:xfrm>
            <a:off x="457200" y="4846320"/>
            <a:ext cx="68580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Sizing, Not Signaling  ·  Pavlos Giannakis  ·  FINM 33150 (Spring 2026)</a:t>
            </a:r>
            <a:endParaRPr lang="en-US" sz="900" dirty="0"/>
          </a:p>
        </p:txBody>
      </p:sp>
      <p:sp>
        <p:nvSpPr>
          <p:cNvPr id="27" name="Text 24"/>
          <p:cNvSpPr/>
          <p:nvPr/>
        </p:nvSpPr>
        <p:spPr>
          <a:xfrm>
            <a:off x="8229600" y="4846320"/>
            <a:ext cx="64008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 /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indent="0" marL="0">
              <a:buNone/>
            </a:pPr>
            <a:r>
              <a:rPr lang="en-US" sz="2800" b="1" dirty="0">
                <a:solidFill>
                  <a:srgbClr val="1A3A5F"/>
                </a:solidFill>
                <a:latin typeface="Calibri" pitchFamily="34" charset="0"/>
                <a:ea typeface="Calibri" pitchFamily="34" charset="-122"/>
                <a:cs typeface="Calibri" pitchFamily="34" charset="-120"/>
              </a:rPr>
              <a:t>Held-out validation</a:t>
            </a:r>
            <a:endParaRPr lang="en-US" sz="2800" dirty="0"/>
          </a:p>
        </p:txBody>
      </p:sp>
      <p:sp>
        <p:nvSpPr>
          <p:cNvPr id="3" name="Text 1"/>
          <p:cNvSpPr/>
          <p:nvPr/>
        </p:nvSpPr>
        <p:spPr>
          <a:xfrm>
            <a:off x="457200" y="713232"/>
            <a:ext cx="8229600" cy="292608"/>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IS Sharpe +0.47 -&gt; OOS Sharpe +0.28; bootstrap intervals overlap</a:t>
            </a:r>
            <a:endParaRPr lang="en-US" sz="1300" dirty="0"/>
          </a:p>
        </p:txBody>
      </p:sp>
      <p:pic>
        <p:nvPicPr>
          <p:cNvPr id="4" name="Image 0" descr="/sessions/trusting-eloquent-euler/mnt/outputs/deck_figs/032__figure_7_out_of_sample_validation.png">    </p:cNvPr>
          <p:cNvPicPr>
            <a:picLocks noChangeAspect="1"/>
          </p:cNvPicPr>
          <p:nvPr/>
        </p:nvPicPr>
        <p:blipFill>
          <a:blip r:embed="rId1"/>
          <a:stretch>
            <a:fillRect/>
          </a:stretch>
        </p:blipFill>
        <p:spPr>
          <a:xfrm>
            <a:off x="365760" y="1234440"/>
            <a:ext cx="6217920" cy="3246120"/>
          </a:xfrm>
          <a:prstGeom prst="rect">
            <a:avLst/>
          </a:prstGeom>
        </p:spPr>
      </p:pic>
      <p:sp>
        <p:nvSpPr>
          <p:cNvPr id="5" name="Shape 2"/>
          <p:cNvSpPr/>
          <p:nvPr/>
        </p:nvSpPr>
        <p:spPr>
          <a:xfrm>
            <a:off x="6720840" y="1325880"/>
            <a:ext cx="2057400" cy="3063240"/>
          </a:xfrm>
          <a:prstGeom prst="rect">
            <a:avLst/>
          </a:prstGeom>
          <a:solidFill>
            <a:srgbClr val="F7F8FA"/>
          </a:solidFill>
          <a:ln w="6350">
            <a:solidFill>
              <a:srgbClr val="E5E7EB"/>
            </a:solidFill>
            <a:prstDash val="solid"/>
          </a:ln>
        </p:spPr>
      </p:sp>
      <p:sp>
        <p:nvSpPr>
          <p:cNvPr id="6" name="Shape 3"/>
          <p:cNvSpPr/>
          <p:nvPr/>
        </p:nvSpPr>
        <p:spPr>
          <a:xfrm>
            <a:off x="6720840" y="1325880"/>
            <a:ext cx="2057400" cy="73152"/>
          </a:xfrm>
          <a:prstGeom prst="rect">
            <a:avLst/>
          </a:prstGeom>
          <a:solidFill>
            <a:srgbClr val="1A3A5F"/>
          </a:solidFill>
          <a:ln w="12700">
            <a:solidFill>
              <a:srgbClr val="1A3A5F"/>
            </a:solidFill>
            <a:prstDash val="solid"/>
          </a:ln>
        </p:spPr>
      </p:sp>
      <p:sp>
        <p:nvSpPr>
          <p:cNvPr id="7" name="Text 4"/>
          <p:cNvSpPr/>
          <p:nvPr/>
        </p:nvSpPr>
        <p:spPr>
          <a:xfrm>
            <a:off x="6858000" y="1463040"/>
            <a:ext cx="1828800" cy="274320"/>
          </a:xfrm>
          <a:prstGeom prst="rect">
            <a:avLst/>
          </a:prstGeom>
          <a:noFill/>
          <a:ln/>
        </p:spPr>
        <p:txBody>
          <a:bodyPr wrap="square" lIns="0" tIns="0" rIns="0" bIns="0" rtlCol="0" anchor="ctr"/>
          <a:lstStyle/>
          <a:p>
            <a:pPr indent="0" marL="0">
              <a:buNone/>
            </a:pPr>
            <a:r>
              <a:rPr lang="en-US" sz="1300" b="1" dirty="0">
                <a:solidFill>
                  <a:srgbClr val="1A3A5F"/>
                </a:solidFill>
                <a:latin typeface="Calibri" pitchFamily="34" charset="0"/>
                <a:ea typeface="Calibri" pitchFamily="34" charset="-122"/>
                <a:cs typeface="Calibri" pitchFamily="34" charset="-120"/>
              </a:rPr>
              <a:t>Bootstrap test</a:t>
            </a:r>
            <a:endParaRPr lang="en-US" sz="1300" dirty="0"/>
          </a:p>
        </p:txBody>
      </p:sp>
      <p:sp>
        <p:nvSpPr>
          <p:cNvPr id="8" name="Text 5"/>
          <p:cNvSpPr/>
          <p:nvPr/>
        </p:nvSpPr>
        <p:spPr>
          <a:xfrm>
            <a:off x="6858000" y="1783080"/>
            <a:ext cx="1828800" cy="2560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IS 5-95% CI:</a:t>
            </a:r>
            <a:endParaRPr lang="en-US" sz="1000" dirty="0"/>
          </a:p>
          <a:p>
            <a:pPr indent="0" marL="0">
              <a:buNone/>
            </a:pPr>
            <a:r>
              <a:rPr lang="en-US" sz="1200" b="1" dirty="0">
                <a:solidFill>
                  <a:srgbClr val="0C111D"/>
                </a:solidFill>
                <a:latin typeface="Calibri" pitchFamily="34" charset="0"/>
                <a:ea typeface="Calibri" pitchFamily="34" charset="-122"/>
                <a:cs typeface="Calibri" pitchFamily="34" charset="-120"/>
              </a:rPr>
              <a:t>[-0.14, +0.99]</a:t>
            </a:r>
            <a:endParaRPr lang="en-US" sz="1000" dirty="0"/>
          </a:p>
          <a:p>
            <a:pPr indent="0" marL="0">
              <a:buNone/>
            </a:pPr>
            <a:r>
              <a:rPr lang="en-US" sz="600" dirty="0">
                <a:solidFill>
                  <a:srgbClr val="0C111D"/>
                </a:solidFill>
                <a:latin typeface="Calibri" pitchFamily="34" charset="0"/>
                <a:ea typeface="Calibri" pitchFamily="34" charset="-122"/>
                <a:cs typeface="Calibri" pitchFamily="34" charset="-120"/>
              </a:rPr>
              <a:t> </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OOS 5-95% CI:</a:t>
            </a:r>
            <a:endParaRPr lang="en-US" sz="1000" dirty="0"/>
          </a:p>
          <a:p>
            <a:pPr indent="0" marL="0">
              <a:buNone/>
            </a:pPr>
            <a:r>
              <a:rPr lang="en-US" sz="1200" b="1" dirty="0">
                <a:solidFill>
                  <a:srgbClr val="0C111D"/>
                </a:solidFill>
                <a:latin typeface="Calibri" pitchFamily="34" charset="0"/>
                <a:ea typeface="Calibri" pitchFamily="34" charset="-122"/>
                <a:cs typeface="Calibri" pitchFamily="34" charset="-120"/>
              </a:rPr>
              <a:t>[-0.33, +0.98]</a:t>
            </a:r>
            <a:endParaRPr lang="en-US" sz="1000" dirty="0"/>
          </a:p>
          <a:p>
            <a:pPr indent="0" marL="0">
              <a:buNone/>
            </a:pPr>
            <a:r>
              <a:rPr lang="en-US" sz="600" dirty="0">
                <a:solidFill>
                  <a:srgbClr val="0C111D"/>
                </a:solidFill>
                <a:latin typeface="Calibri" pitchFamily="34" charset="0"/>
                <a:ea typeface="Calibri" pitchFamily="34" charset="-122"/>
                <a:cs typeface="Calibri" pitchFamily="34" charset="-120"/>
              </a:rPr>
              <a:t> </a:t>
            </a:r>
            <a:endParaRPr lang="en-US" sz="1000" dirty="0"/>
          </a:p>
          <a:p>
            <a:pPr indent="0" marL="0">
              <a:buNone/>
            </a:pPr>
            <a:r>
              <a:rPr lang="en-US" sz="1000" i="1" dirty="0">
                <a:solidFill>
                  <a:srgbClr val="0C111D"/>
                </a:solidFill>
                <a:latin typeface="Calibri" pitchFamily="34" charset="0"/>
                <a:ea typeface="Calibri" pitchFamily="34" charset="-122"/>
                <a:cs typeface="Calibri" pitchFamily="34" charset="-120"/>
              </a:rPr>
              <a:t>Each point Sharpe sits inside the other window's interval — consistent with moderate decay, not a complete OOS collapse.</a:t>
            </a:r>
            <a:endParaRPr lang="en-US" sz="1000" dirty="0"/>
          </a:p>
        </p:txBody>
      </p:sp>
      <p:sp>
        <p:nvSpPr>
          <p:cNvPr id="9" name="Text 6"/>
          <p:cNvSpPr/>
          <p:nvPr/>
        </p:nvSpPr>
        <p:spPr>
          <a:xfrm>
            <a:off x="365760" y="4526280"/>
            <a:ext cx="8412480" cy="320040"/>
          </a:xfrm>
          <a:prstGeom prst="rect">
            <a:avLst/>
          </a:prstGeom>
          <a:noFill/>
          <a:ln/>
        </p:spPr>
        <p:txBody>
          <a:bodyPr wrap="square" lIns="0" tIns="0" rIns="0" bIns="0" rtlCol="0" anchor="ctr"/>
          <a:lstStyle/>
          <a:p>
            <a:pPr indent="0" marL="0">
              <a:buNone/>
            </a:pPr>
            <a:r>
              <a:rPr lang="en-US" sz="1100" b="1" dirty="0">
                <a:solidFill>
                  <a:srgbClr val="1A3A5F"/>
                </a:solidFill>
                <a:latin typeface="Calibri" pitchFamily="34" charset="0"/>
                <a:ea typeface="Calibri" pitchFamily="34" charset="-122"/>
                <a:cs typeface="Calibri" pitchFamily="34" charset="-120"/>
              </a:rPr>
              <a:t>Why this matters. </a:t>
            </a:r>
            <a:pPr indent="0" marL="0">
              <a:buNone/>
            </a:pPr>
            <a:r>
              <a:rPr lang="en-US" sz="1100" dirty="0">
                <a:solidFill>
                  <a:srgbClr val="0C111D"/>
                </a:solidFill>
                <a:latin typeface="Calibri" pitchFamily="34" charset="0"/>
                <a:ea typeface="Calibri" pitchFamily="34" charset="-122"/>
                <a:cs typeface="Calibri" pitchFamily="34" charset="-120"/>
              </a:rPr>
              <a:t>Parameters were frozen before 2018. The OOS Sharpe is the fixed rule's performance, not a retuned version. </a:t>
            </a:r>
            <a:pPr indent="0" marL="0">
              <a:buNone/>
            </a:pPr>
            <a:r>
              <a:rPr lang="en-US" sz="1100" i="1" dirty="0">
                <a:solidFill>
                  <a:srgbClr val="64748B"/>
                </a:solidFill>
                <a:latin typeface="Calibri" pitchFamily="34" charset="0"/>
                <a:ea typeface="Calibri" pitchFamily="34" charset="-122"/>
                <a:cs typeface="Calibri" pitchFamily="34" charset="-120"/>
              </a:rPr>
              <a:t>Overlap doesn't prove no overfitting, but it rules out a sharp collapse.</a:t>
            </a:r>
            <a:endParaRPr lang="en-US" sz="1100" dirty="0"/>
          </a:p>
        </p:txBody>
      </p:sp>
      <p:sp>
        <p:nvSpPr>
          <p:cNvPr id="10" name="Text 7"/>
          <p:cNvSpPr/>
          <p:nvPr/>
        </p:nvSpPr>
        <p:spPr>
          <a:xfrm>
            <a:off x="457200" y="4846320"/>
            <a:ext cx="68580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Sizing, Not Signaling  ·  Pavlos Giannakis  ·  FINM 33150 (Spring 2026)</a:t>
            </a:r>
            <a:endParaRPr lang="en-US" sz="900" dirty="0"/>
          </a:p>
        </p:txBody>
      </p:sp>
      <p:sp>
        <p:nvSpPr>
          <p:cNvPr id="11" name="Text 8"/>
          <p:cNvSpPr/>
          <p:nvPr/>
        </p:nvSpPr>
        <p:spPr>
          <a:xfrm>
            <a:off x="8229600" y="4846320"/>
            <a:ext cx="64008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 /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indent="0" marL="0">
              <a:buNone/>
            </a:pPr>
            <a:r>
              <a:rPr lang="en-US" sz="2800" b="1" dirty="0">
                <a:solidFill>
                  <a:srgbClr val="1A3A5F"/>
                </a:solidFill>
                <a:latin typeface="Calibri" pitchFamily="34" charset="0"/>
                <a:ea typeface="Calibri" pitchFamily="34" charset="-122"/>
                <a:cs typeface="Calibri" pitchFamily="34" charset="-120"/>
              </a:rPr>
              <a:t>Where the returns came from</a:t>
            </a:r>
            <a:endParaRPr lang="en-US" sz="2800" dirty="0"/>
          </a:p>
        </p:txBody>
      </p:sp>
      <p:sp>
        <p:nvSpPr>
          <p:cNvPr id="3" name="Text 1"/>
          <p:cNvSpPr/>
          <p:nvPr/>
        </p:nvSpPr>
        <p:spPr>
          <a:xfrm>
            <a:off x="457200" y="713232"/>
            <a:ext cx="8229600" cy="292608"/>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Per-asset cumulative P&amp;L on a USD 1M book</a:t>
            </a:r>
            <a:endParaRPr lang="en-US" sz="1300" dirty="0"/>
          </a:p>
        </p:txBody>
      </p:sp>
      <p:pic>
        <p:nvPicPr>
          <p:cNvPr id="4" name="Image 0" descr="/sessions/trusting-eloquent-euler/mnt/outputs/deck_figs/036__figure_8_per_asset_attribution.png">    </p:cNvPr>
          <p:cNvPicPr>
            <a:picLocks noChangeAspect="1"/>
          </p:cNvPicPr>
          <p:nvPr/>
        </p:nvPicPr>
        <p:blipFill>
          <a:blip r:embed="rId1"/>
          <a:stretch>
            <a:fillRect/>
          </a:stretch>
        </p:blipFill>
        <p:spPr>
          <a:xfrm>
            <a:off x="365760" y="1234440"/>
            <a:ext cx="6217920" cy="3246120"/>
          </a:xfrm>
          <a:prstGeom prst="rect">
            <a:avLst/>
          </a:prstGeom>
        </p:spPr>
      </p:pic>
      <p:sp>
        <p:nvSpPr>
          <p:cNvPr id="5" name="Shape 2"/>
          <p:cNvSpPr/>
          <p:nvPr/>
        </p:nvSpPr>
        <p:spPr>
          <a:xfrm>
            <a:off x="6720840" y="1325880"/>
            <a:ext cx="2057400" cy="3063240"/>
          </a:xfrm>
          <a:prstGeom prst="rect">
            <a:avLst/>
          </a:prstGeom>
          <a:solidFill>
            <a:srgbClr val="F7F8FA"/>
          </a:solidFill>
          <a:ln w="6350">
            <a:solidFill>
              <a:srgbClr val="E5E7EB"/>
            </a:solidFill>
            <a:prstDash val="solid"/>
          </a:ln>
        </p:spPr>
      </p:sp>
      <p:sp>
        <p:nvSpPr>
          <p:cNvPr id="6" name="Shape 3"/>
          <p:cNvSpPr/>
          <p:nvPr/>
        </p:nvSpPr>
        <p:spPr>
          <a:xfrm>
            <a:off x="6720840" y="1325880"/>
            <a:ext cx="2057400" cy="73152"/>
          </a:xfrm>
          <a:prstGeom prst="rect">
            <a:avLst/>
          </a:prstGeom>
          <a:solidFill>
            <a:srgbClr val="1D6F42"/>
          </a:solidFill>
          <a:ln w="12700">
            <a:solidFill>
              <a:srgbClr val="1D6F42"/>
            </a:solidFill>
            <a:prstDash val="solid"/>
          </a:ln>
        </p:spPr>
      </p:sp>
      <p:sp>
        <p:nvSpPr>
          <p:cNvPr id="7" name="Text 4"/>
          <p:cNvSpPr/>
          <p:nvPr/>
        </p:nvSpPr>
        <p:spPr>
          <a:xfrm>
            <a:off x="6858000" y="1463040"/>
            <a:ext cx="1828800" cy="274320"/>
          </a:xfrm>
          <a:prstGeom prst="rect">
            <a:avLst/>
          </a:prstGeom>
          <a:noFill/>
          <a:ln/>
        </p:spPr>
        <p:txBody>
          <a:bodyPr wrap="square" lIns="0" tIns="0" rIns="0" bIns="0" rtlCol="0" anchor="ctr"/>
          <a:lstStyle/>
          <a:p>
            <a:pPr indent="0" marL="0">
              <a:buNone/>
            </a:pPr>
            <a:r>
              <a:rPr lang="en-US" sz="1300" b="1" dirty="0">
                <a:solidFill>
                  <a:srgbClr val="1D6F42"/>
                </a:solidFill>
                <a:latin typeface="Calibri" pitchFamily="34" charset="0"/>
                <a:ea typeface="Calibri" pitchFamily="34" charset="-122"/>
                <a:cs typeface="Calibri" pitchFamily="34" charset="-120"/>
              </a:rPr>
              <a:t>Top contributors</a:t>
            </a:r>
            <a:endParaRPr lang="en-US" sz="1300" dirty="0"/>
          </a:p>
        </p:txBody>
      </p:sp>
      <p:sp>
        <p:nvSpPr>
          <p:cNvPr id="8" name="Text 5"/>
          <p:cNvSpPr/>
          <p:nvPr/>
        </p:nvSpPr>
        <p:spPr>
          <a:xfrm>
            <a:off x="6858000" y="1783080"/>
            <a:ext cx="1828800" cy="2560320"/>
          </a:xfrm>
          <a:prstGeom prst="rect">
            <a:avLst/>
          </a:prstGeom>
          <a:noFill/>
          <a:ln/>
        </p:spPr>
        <p:txBody>
          <a:bodyPr wrap="square" lIns="0" tIns="0" rIns="0" bIns="0" rtlCol="0" anchor="ctr"/>
          <a:lstStyle/>
          <a:p>
            <a:pPr indent="0" marL="0">
              <a:spcAft>
                <a:spcPts val="100"/>
              </a:spcAft>
              <a:buNone/>
            </a:pPr>
            <a:r>
              <a:rPr lang="en-US" sz="1200" b="1" dirty="0">
                <a:solidFill>
                  <a:srgbClr val="0C111D"/>
                </a:solidFill>
                <a:latin typeface="Calibri" pitchFamily="34" charset="0"/>
                <a:ea typeface="Calibri" pitchFamily="34" charset="-122"/>
                <a:cs typeface="Calibri" pitchFamily="34" charset="-120"/>
              </a:rPr>
              <a:t>XLK   </a:t>
            </a:r>
            <a:pPr indent="0" marL="0">
              <a:spcAft>
                <a:spcPts val="100"/>
              </a:spcAft>
              <a:buNone/>
            </a:pPr>
            <a:r>
              <a:rPr lang="en-US" sz="1200" b="1" dirty="0">
                <a:solidFill>
                  <a:srgbClr val="1D6F42"/>
                </a:solidFill>
                <a:latin typeface="Calibri" pitchFamily="34" charset="0"/>
                <a:ea typeface="Calibri" pitchFamily="34" charset="-122"/>
                <a:cs typeface="Calibri" pitchFamily="34" charset="-120"/>
              </a:rPr>
              <a:t>+140k</a:t>
            </a:r>
            <a:endParaRPr lang="en-US" sz="1200" dirty="0"/>
          </a:p>
          <a:p>
            <a:pPr indent="0" marL="0">
              <a:spcAft>
                <a:spcPts val="100"/>
              </a:spcAft>
              <a:buNone/>
            </a:pPr>
            <a:r>
              <a:rPr lang="en-US" sz="1200" b="1" dirty="0">
                <a:solidFill>
                  <a:srgbClr val="0C111D"/>
                </a:solidFill>
                <a:latin typeface="Calibri" pitchFamily="34" charset="0"/>
                <a:ea typeface="Calibri" pitchFamily="34" charset="-122"/>
                <a:cs typeface="Calibri" pitchFamily="34" charset="-120"/>
              </a:rPr>
              <a:t>SPY   </a:t>
            </a:r>
            <a:pPr indent="0" marL="0">
              <a:spcAft>
                <a:spcPts val="100"/>
              </a:spcAft>
              <a:buNone/>
            </a:pPr>
            <a:r>
              <a:rPr lang="en-US" sz="1200" b="1" dirty="0">
                <a:solidFill>
                  <a:srgbClr val="1D6F42"/>
                </a:solidFill>
                <a:latin typeface="Calibri" pitchFamily="34" charset="0"/>
                <a:ea typeface="Calibri" pitchFamily="34" charset="-122"/>
                <a:cs typeface="Calibri" pitchFamily="34" charset="-120"/>
              </a:rPr>
              <a:t>+111k</a:t>
            </a:r>
            <a:endParaRPr lang="en-US" sz="1200" dirty="0"/>
          </a:p>
          <a:p>
            <a:pPr indent="0" marL="0">
              <a:spcAft>
                <a:spcPts val="100"/>
              </a:spcAft>
              <a:buNone/>
            </a:pPr>
            <a:r>
              <a:rPr lang="en-US" sz="1200" b="1" dirty="0">
                <a:solidFill>
                  <a:srgbClr val="0C111D"/>
                </a:solidFill>
                <a:latin typeface="Calibri" pitchFamily="34" charset="0"/>
                <a:ea typeface="Calibri" pitchFamily="34" charset="-122"/>
                <a:cs typeface="Calibri" pitchFamily="34" charset="-120"/>
              </a:rPr>
              <a:t>GLD   </a:t>
            </a:r>
            <a:pPr indent="0" marL="0">
              <a:spcAft>
                <a:spcPts val="100"/>
              </a:spcAft>
              <a:buNone/>
            </a:pPr>
            <a:r>
              <a:rPr lang="en-US" sz="1200" b="1" dirty="0">
                <a:solidFill>
                  <a:srgbClr val="1D6F42"/>
                </a:solidFill>
                <a:latin typeface="Calibri" pitchFamily="34" charset="0"/>
                <a:ea typeface="Calibri" pitchFamily="34" charset="-122"/>
                <a:cs typeface="Calibri" pitchFamily="34" charset="-120"/>
              </a:rPr>
              <a:t> +91k</a:t>
            </a:r>
            <a:endParaRPr lang="en-US" sz="1200" dirty="0"/>
          </a:p>
          <a:p>
            <a:pPr indent="0" marL="0">
              <a:spcAft>
                <a:spcPts val="100"/>
              </a:spcAft>
              <a:buNone/>
            </a:pPr>
            <a:r>
              <a:rPr lang="en-US" sz="1200" b="1" dirty="0">
                <a:solidFill>
                  <a:srgbClr val="0C111D"/>
                </a:solidFill>
                <a:latin typeface="Calibri" pitchFamily="34" charset="0"/>
                <a:ea typeface="Calibri" pitchFamily="34" charset="-122"/>
                <a:cs typeface="Calibri" pitchFamily="34" charset="-120"/>
              </a:rPr>
              <a:t>XLF   </a:t>
            </a:r>
            <a:pPr indent="0" marL="0">
              <a:spcAft>
                <a:spcPts val="100"/>
              </a:spcAft>
              <a:buNone/>
            </a:pPr>
            <a:r>
              <a:rPr lang="en-US" sz="1200" b="1" dirty="0">
                <a:solidFill>
                  <a:srgbClr val="1D6F42"/>
                </a:solidFill>
                <a:latin typeface="Calibri" pitchFamily="34" charset="0"/>
                <a:ea typeface="Calibri" pitchFamily="34" charset="-122"/>
                <a:cs typeface="Calibri" pitchFamily="34" charset="-120"/>
              </a:rPr>
              <a:t> +68k</a:t>
            </a:r>
            <a:endParaRPr lang="en-US" sz="1200" dirty="0"/>
          </a:p>
          <a:p>
            <a:pPr indent="0" marL="0">
              <a:spcAft>
                <a:spcPts val="100"/>
              </a:spcAft>
              <a:buNone/>
            </a:pPr>
            <a:r>
              <a:rPr lang="en-US" sz="1200" b="1" dirty="0">
                <a:solidFill>
                  <a:srgbClr val="0C111D"/>
                </a:solidFill>
                <a:latin typeface="Calibri" pitchFamily="34" charset="0"/>
                <a:ea typeface="Calibri" pitchFamily="34" charset="-122"/>
                <a:cs typeface="Calibri" pitchFamily="34" charset="-120"/>
              </a:rPr>
              <a:t>IWM   </a:t>
            </a:r>
            <a:pPr indent="0" marL="0">
              <a:spcAft>
                <a:spcPts val="100"/>
              </a:spcAft>
              <a:buNone/>
            </a:pPr>
            <a:r>
              <a:rPr lang="en-US" sz="1200" b="1" dirty="0">
                <a:solidFill>
                  <a:srgbClr val="1D6F42"/>
                </a:solidFill>
                <a:latin typeface="Calibri" pitchFamily="34" charset="0"/>
                <a:ea typeface="Calibri" pitchFamily="34" charset="-122"/>
                <a:cs typeface="Calibri" pitchFamily="34" charset="-120"/>
              </a:rPr>
              <a:t> +59k</a:t>
            </a:r>
            <a:endParaRPr lang="en-US" sz="1200" dirty="0"/>
          </a:p>
          <a:p>
            <a:pPr indent="0" marL="0">
              <a:spcAft>
                <a:spcPts val="100"/>
              </a:spcAft>
              <a:buNone/>
            </a:pPr>
            <a:r>
              <a:rPr lang="en-US" sz="1200" b="1" dirty="0">
                <a:solidFill>
                  <a:srgbClr val="0C111D"/>
                </a:solidFill>
                <a:latin typeface="Calibri" pitchFamily="34" charset="0"/>
                <a:ea typeface="Calibri" pitchFamily="34" charset="-122"/>
                <a:cs typeface="Calibri" pitchFamily="34" charset="-120"/>
              </a:rPr>
              <a:t>TLT   </a:t>
            </a:r>
            <a:pPr indent="0" marL="0">
              <a:spcAft>
                <a:spcPts val="100"/>
              </a:spcAft>
              <a:buNone/>
            </a:pPr>
            <a:r>
              <a:rPr lang="en-US" sz="1200" b="1" dirty="0">
                <a:solidFill>
                  <a:srgbClr val="0C111D"/>
                </a:solidFill>
                <a:latin typeface="Calibri" pitchFamily="34" charset="0"/>
                <a:ea typeface="Calibri" pitchFamily="34" charset="-122"/>
                <a:cs typeface="Calibri" pitchFamily="34" charset="-120"/>
              </a:rPr>
              <a:t>  +8k</a:t>
            </a:r>
            <a:endParaRPr lang="en-US" sz="1200" dirty="0"/>
          </a:p>
          <a:p>
            <a:pPr indent="0" marL="0">
              <a:spcAft>
                <a:spcPts val="100"/>
              </a:spcAft>
              <a:buNone/>
            </a:pPr>
            <a:r>
              <a:rPr lang="en-US" sz="1200" b="1" dirty="0">
                <a:solidFill>
                  <a:srgbClr val="0C111D"/>
                </a:solidFill>
                <a:latin typeface="Calibri" pitchFamily="34" charset="0"/>
                <a:ea typeface="Calibri" pitchFamily="34" charset="-122"/>
                <a:cs typeface="Calibri" pitchFamily="34" charset="-120"/>
              </a:rPr>
              <a:t>EFA   </a:t>
            </a:r>
            <a:pPr indent="0" marL="0">
              <a:spcAft>
                <a:spcPts val="100"/>
              </a:spcAft>
              <a:buNone/>
            </a:pPr>
            <a:r>
              <a:rPr lang="en-US" sz="1200" b="1" dirty="0">
                <a:solidFill>
                  <a:srgbClr val="D4351C"/>
                </a:solidFill>
                <a:latin typeface="Calibri" pitchFamily="34" charset="0"/>
                <a:ea typeface="Calibri" pitchFamily="34" charset="-122"/>
                <a:cs typeface="Calibri" pitchFamily="34" charset="-120"/>
              </a:rPr>
              <a:t> -10k</a:t>
            </a:r>
            <a:endParaRPr lang="en-US" sz="1200" dirty="0"/>
          </a:p>
          <a:p>
            <a:pPr indent="0" marL="0">
              <a:spcAft>
                <a:spcPts val="100"/>
              </a:spcAft>
              <a:buNone/>
            </a:pPr>
            <a:r>
              <a:rPr lang="en-US" sz="1200" b="1" dirty="0">
                <a:solidFill>
                  <a:srgbClr val="0C111D"/>
                </a:solidFill>
                <a:latin typeface="Calibri" pitchFamily="34" charset="0"/>
                <a:ea typeface="Calibri" pitchFamily="34" charset="-122"/>
                <a:cs typeface="Calibri" pitchFamily="34" charset="-120"/>
              </a:rPr>
              <a:t>EEM   </a:t>
            </a:r>
            <a:pPr indent="0" marL="0">
              <a:spcAft>
                <a:spcPts val="100"/>
              </a:spcAft>
              <a:buNone/>
            </a:pPr>
            <a:r>
              <a:rPr lang="en-US" sz="1200" b="1" dirty="0">
                <a:solidFill>
                  <a:srgbClr val="D4351C"/>
                </a:solidFill>
                <a:latin typeface="Calibri" pitchFamily="34" charset="0"/>
                <a:ea typeface="Calibri" pitchFamily="34" charset="-122"/>
                <a:cs typeface="Calibri" pitchFamily="34" charset="-120"/>
              </a:rPr>
              <a:t> -12k</a:t>
            </a:r>
            <a:endParaRPr lang="en-US" sz="1200" dirty="0"/>
          </a:p>
        </p:txBody>
      </p:sp>
      <p:sp>
        <p:nvSpPr>
          <p:cNvPr id="9" name="Text 6"/>
          <p:cNvSpPr/>
          <p:nvPr/>
        </p:nvSpPr>
        <p:spPr>
          <a:xfrm>
            <a:off x="365760" y="4526280"/>
            <a:ext cx="8412480" cy="320040"/>
          </a:xfrm>
          <a:prstGeom prst="rect">
            <a:avLst/>
          </a:prstGeom>
          <a:noFill/>
          <a:ln/>
        </p:spPr>
        <p:txBody>
          <a:bodyPr wrap="square" lIns="0" tIns="0" rIns="0" bIns="0" rtlCol="0" anchor="ctr"/>
          <a:lstStyle/>
          <a:p>
            <a:pPr indent="0" marL="0">
              <a:buNone/>
            </a:pPr>
            <a:r>
              <a:rPr lang="en-US" sz="1100" b="1" dirty="0">
                <a:solidFill>
                  <a:srgbClr val="1A3A5F"/>
                </a:solidFill>
                <a:latin typeface="Calibri" pitchFamily="34" charset="0"/>
                <a:ea typeface="Calibri" pitchFamily="34" charset="-122"/>
                <a:cs typeface="Calibri" pitchFamily="34" charset="-120"/>
              </a:rPr>
              <a:t>Returns concentrate in US equity sleeves and gold. </a:t>
            </a:r>
            <a:pPr indent="0" marL="0">
              <a:buNone/>
            </a:pPr>
            <a:r>
              <a:rPr lang="en-US" sz="1100" dirty="0">
                <a:solidFill>
                  <a:srgbClr val="0C111D"/>
                </a:solidFill>
                <a:latin typeface="Calibri" pitchFamily="34" charset="0"/>
                <a:ea typeface="Calibri" pitchFamily="34" charset="-122"/>
                <a:cs typeface="Calibri" pitchFamily="34" charset="-120"/>
              </a:rPr>
              <a:t>International equity (EFA, EEM) contributed slightly negative on a risk-sized basis. </a:t>
            </a:r>
            <a:pPr indent="0" marL="0">
              <a:buNone/>
            </a:pPr>
            <a:r>
              <a:rPr lang="en-US" sz="1100" i="1" dirty="0">
                <a:solidFill>
                  <a:srgbClr val="64748B"/>
                </a:solidFill>
                <a:latin typeface="Calibri" pitchFamily="34" charset="0"/>
                <a:ea typeface="Calibri" pitchFamily="34" charset="-122"/>
                <a:cs typeface="Calibri" pitchFamily="34" charset="-120"/>
              </a:rPr>
              <a:t>Gold's near-zero correlation with the equity legs is what justifies its place in the book.</a:t>
            </a:r>
            <a:endParaRPr lang="en-US" sz="1100" dirty="0"/>
          </a:p>
        </p:txBody>
      </p:sp>
      <p:sp>
        <p:nvSpPr>
          <p:cNvPr id="10" name="Text 7"/>
          <p:cNvSpPr/>
          <p:nvPr/>
        </p:nvSpPr>
        <p:spPr>
          <a:xfrm>
            <a:off x="457200" y="4846320"/>
            <a:ext cx="68580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Sizing, Not Signaling  ·  Pavlos Giannakis  ·  FINM 33150 (Spring 2026)</a:t>
            </a:r>
            <a:endParaRPr lang="en-US" sz="900" dirty="0"/>
          </a:p>
        </p:txBody>
      </p:sp>
      <p:sp>
        <p:nvSpPr>
          <p:cNvPr id="11" name="Text 8"/>
          <p:cNvSpPr/>
          <p:nvPr/>
        </p:nvSpPr>
        <p:spPr>
          <a:xfrm>
            <a:off x="8229600" y="4846320"/>
            <a:ext cx="64008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 /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indent="0" marL="0">
              <a:buNone/>
            </a:pPr>
            <a:r>
              <a:rPr lang="en-US" sz="2800" b="1" dirty="0">
                <a:solidFill>
                  <a:srgbClr val="1A3A5F"/>
                </a:solidFill>
                <a:latin typeface="Calibri" pitchFamily="34" charset="0"/>
                <a:ea typeface="Calibri" pitchFamily="34" charset="-122"/>
                <a:cs typeface="Calibri" pitchFamily="34" charset="-120"/>
              </a:rPr>
              <a:t>Regime behaviour</a:t>
            </a:r>
            <a:endParaRPr lang="en-US" sz="2800" dirty="0"/>
          </a:p>
        </p:txBody>
      </p:sp>
      <p:sp>
        <p:nvSpPr>
          <p:cNvPr id="3" name="Text 1"/>
          <p:cNvSpPr/>
          <p:nvPr/>
        </p:nvSpPr>
        <p:spPr>
          <a:xfrm>
            <a:off x="457200" y="713232"/>
            <a:ext cx="8229600" cy="292608"/>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The gate effectively flattens the book through 2008-09 and 2020</a:t>
            </a:r>
            <a:endParaRPr lang="en-US" sz="1300" dirty="0"/>
          </a:p>
        </p:txBody>
      </p:sp>
      <p:pic>
        <p:nvPicPr>
          <p:cNvPr id="4" name="Image 0" descr="/sessions/trusting-eloquent-euler/mnt/outputs/deck_figs/040__figure_9_the_regime_engine.png">    </p:cNvPr>
          <p:cNvPicPr>
            <a:picLocks noChangeAspect="1"/>
          </p:cNvPicPr>
          <p:nvPr/>
        </p:nvPicPr>
        <p:blipFill>
          <a:blip r:embed="rId1"/>
          <a:stretch>
            <a:fillRect/>
          </a:stretch>
        </p:blipFill>
        <p:spPr>
          <a:xfrm>
            <a:off x="365760" y="1234440"/>
            <a:ext cx="6217920" cy="3246120"/>
          </a:xfrm>
          <a:prstGeom prst="rect">
            <a:avLst/>
          </a:prstGeom>
        </p:spPr>
      </p:pic>
      <p:sp>
        <p:nvSpPr>
          <p:cNvPr id="5" name="Shape 2"/>
          <p:cNvSpPr/>
          <p:nvPr/>
        </p:nvSpPr>
        <p:spPr>
          <a:xfrm>
            <a:off x="6720840" y="1325880"/>
            <a:ext cx="2057400" cy="3063240"/>
          </a:xfrm>
          <a:prstGeom prst="rect">
            <a:avLst/>
          </a:prstGeom>
          <a:solidFill>
            <a:srgbClr val="F7F8FA"/>
          </a:solidFill>
          <a:ln w="6350">
            <a:solidFill>
              <a:srgbClr val="E5E7EB"/>
            </a:solidFill>
            <a:prstDash val="solid"/>
          </a:ln>
        </p:spPr>
      </p:sp>
      <p:sp>
        <p:nvSpPr>
          <p:cNvPr id="6" name="Shape 3"/>
          <p:cNvSpPr/>
          <p:nvPr/>
        </p:nvSpPr>
        <p:spPr>
          <a:xfrm>
            <a:off x="6720840" y="1325880"/>
            <a:ext cx="2057400" cy="73152"/>
          </a:xfrm>
          <a:prstGeom prst="rect">
            <a:avLst/>
          </a:prstGeom>
          <a:solidFill>
            <a:srgbClr val="F4B400"/>
          </a:solidFill>
          <a:ln w="12700">
            <a:solidFill>
              <a:srgbClr val="F4B400"/>
            </a:solidFill>
            <a:prstDash val="solid"/>
          </a:ln>
        </p:spPr>
      </p:sp>
      <p:sp>
        <p:nvSpPr>
          <p:cNvPr id="7" name="Text 4"/>
          <p:cNvSpPr/>
          <p:nvPr/>
        </p:nvSpPr>
        <p:spPr>
          <a:xfrm>
            <a:off x="6858000" y="1463040"/>
            <a:ext cx="1828800" cy="274320"/>
          </a:xfrm>
          <a:prstGeom prst="rect">
            <a:avLst/>
          </a:prstGeom>
          <a:noFill/>
          <a:ln/>
        </p:spPr>
        <p:txBody>
          <a:bodyPr wrap="square" lIns="0" tIns="0" rIns="0" bIns="0" rtlCol="0" anchor="ctr"/>
          <a:lstStyle/>
          <a:p>
            <a:pPr indent="0" marL="0">
              <a:buNone/>
            </a:pPr>
            <a:r>
              <a:rPr lang="en-US" sz="1300" b="1" dirty="0">
                <a:solidFill>
                  <a:srgbClr val="F4B400"/>
                </a:solidFill>
                <a:latin typeface="Calibri" pitchFamily="34" charset="0"/>
                <a:ea typeface="Calibri" pitchFamily="34" charset="-122"/>
                <a:cs typeface="Calibri" pitchFamily="34" charset="-120"/>
              </a:rPr>
              <a:t>Within-regime mu</a:t>
            </a:r>
            <a:endParaRPr lang="en-US" sz="1300" dirty="0"/>
          </a:p>
        </p:txBody>
      </p:sp>
      <p:sp>
        <p:nvSpPr>
          <p:cNvPr id="8" name="Text 5"/>
          <p:cNvSpPr/>
          <p:nvPr/>
        </p:nvSpPr>
        <p:spPr>
          <a:xfrm>
            <a:off x="6858000" y="1783080"/>
            <a:ext cx="1828800" cy="2560320"/>
          </a:xfrm>
          <a:prstGeom prst="rect">
            <a:avLst/>
          </a:prstGeom>
          <a:noFill/>
          <a:ln/>
        </p:spPr>
        <p:txBody>
          <a:bodyPr wrap="square" lIns="0" tIns="0" rIns="0" bIns="0" rtlCol="0" anchor="ctr"/>
          <a:lstStyle/>
          <a:p>
            <a:pPr indent="0" marL="0">
              <a:spcAft>
                <a:spcPts val="100"/>
              </a:spcAft>
              <a:buNone/>
            </a:pPr>
            <a:r>
              <a:rPr lang="en-US" sz="1200" b="1" dirty="0">
                <a:solidFill>
                  <a:srgbClr val="0C111D"/>
                </a:solidFill>
                <a:latin typeface="Calibri" pitchFamily="34" charset="0"/>
                <a:ea typeface="Calibri" pitchFamily="34" charset="-122"/>
                <a:cs typeface="Calibri" pitchFamily="34" charset="-120"/>
              </a:rPr>
              <a:t>Calm   </a:t>
            </a:r>
            <a:pPr indent="0" marL="0">
              <a:spcAft>
                <a:spcPts val="100"/>
              </a:spcAft>
              <a:buNone/>
            </a:pPr>
            <a:r>
              <a:rPr lang="en-US" sz="1200" b="1" dirty="0">
                <a:solidFill>
                  <a:srgbClr val="1D6F42"/>
                </a:solidFill>
                <a:latin typeface="Calibri" pitchFamily="34" charset="0"/>
                <a:ea typeface="Calibri" pitchFamily="34" charset="-122"/>
                <a:cs typeface="Calibri" pitchFamily="34" charset="-120"/>
              </a:rPr>
              <a:t>+8.1 bps/d</a:t>
            </a:r>
            <a:endParaRPr lang="en-US" sz="1200" dirty="0"/>
          </a:p>
          <a:p>
            <a:pPr indent="0" marL="0">
              <a:spcAft>
                <a:spcPts val="100"/>
              </a:spcAft>
              <a:buNone/>
            </a:pPr>
            <a:r>
              <a:rPr lang="en-US" sz="1200" b="1" dirty="0">
                <a:solidFill>
                  <a:srgbClr val="0C111D"/>
                </a:solidFill>
                <a:latin typeface="Calibri" pitchFamily="34" charset="0"/>
                <a:ea typeface="Calibri" pitchFamily="34" charset="-122"/>
                <a:cs typeface="Calibri" pitchFamily="34" charset="-120"/>
              </a:rPr>
              <a:t>Normal </a:t>
            </a:r>
            <a:pPr indent="0" marL="0">
              <a:spcAft>
                <a:spcPts val="100"/>
              </a:spcAft>
              <a:buNone/>
            </a:pPr>
            <a:r>
              <a:rPr lang="en-US" sz="1200" b="1" dirty="0">
                <a:solidFill>
                  <a:srgbClr val="0C111D"/>
                </a:solidFill>
                <a:latin typeface="Calibri" pitchFamily="34" charset="0"/>
                <a:ea typeface="Calibri" pitchFamily="34" charset="-122"/>
                <a:cs typeface="Calibri" pitchFamily="34" charset="-120"/>
              </a:rPr>
              <a:t>+0.4 bps/d</a:t>
            </a:r>
            <a:endParaRPr lang="en-US" sz="1200" dirty="0"/>
          </a:p>
          <a:p>
            <a:pPr indent="0" marL="0">
              <a:spcAft>
                <a:spcPts val="100"/>
              </a:spcAft>
              <a:buNone/>
            </a:pPr>
            <a:r>
              <a:rPr lang="en-US" sz="1200" b="1" dirty="0">
                <a:solidFill>
                  <a:srgbClr val="0C111D"/>
                </a:solidFill>
                <a:latin typeface="Calibri" pitchFamily="34" charset="0"/>
                <a:ea typeface="Calibri" pitchFamily="34" charset="-122"/>
                <a:cs typeface="Calibri" pitchFamily="34" charset="-120"/>
              </a:rPr>
              <a:t>Stress </a:t>
            </a:r>
            <a:pPr indent="0" marL="0">
              <a:spcAft>
                <a:spcPts val="100"/>
              </a:spcAft>
              <a:buNone/>
            </a:pPr>
            <a:r>
              <a:rPr lang="en-US" sz="1200" b="1" dirty="0">
                <a:solidFill>
                  <a:srgbClr val="D4351C"/>
                </a:solidFill>
                <a:latin typeface="Calibri" pitchFamily="34" charset="0"/>
                <a:ea typeface="Calibri" pitchFamily="34" charset="-122"/>
                <a:cs typeface="Calibri" pitchFamily="34" charset="-120"/>
              </a:rPr>
              <a:t>-8.6 bps/d</a:t>
            </a:r>
            <a:endParaRPr lang="en-US" sz="1200" dirty="0"/>
          </a:p>
          <a:p>
            <a:pPr indent="0" marL="0">
              <a:spcAft>
                <a:spcPts val="100"/>
              </a:spcAft>
              <a:buNone/>
            </a:pPr>
            <a:r>
              <a:rPr lang="en-US" sz="1200" b="1" dirty="0">
                <a:solidFill>
                  <a:srgbClr val="0C111D"/>
                </a:solidFill>
                <a:latin typeface="Calibri" pitchFamily="34" charset="0"/>
                <a:ea typeface="Calibri" pitchFamily="34" charset="-122"/>
                <a:cs typeface="Calibri" pitchFamily="34" charset="-120"/>
              </a:rPr>
              <a:t>Crisis </a:t>
            </a:r>
            <a:pPr indent="0" marL="0">
              <a:spcAft>
                <a:spcPts val="100"/>
              </a:spcAft>
              <a:buNone/>
            </a:pPr>
            <a:r>
              <a:rPr lang="en-US" sz="1200" b="1" dirty="0">
                <a:solidFill>
                  <a:srgbClr val="D4351C"/>
                </a:solidFill>
                <a:latin typeface="Calibri" pitchFamily="34" charset="0"/>
                <a:ea typeface="Calibri" pitchFamily="34" charset="-122"/>
                <a:cs typeface="Calibri" pitchFamily="34" charset="-120"/>
              </a:rPr>
              <a:t>-4.0 bps/d</a:t>
            </a:r>
            <a:endParaRPr lang="en-US" sz="1200" dirty="0"/>
          </a:p>
          <a:p>
            <a:pPr indent="0" marL="0">
              <a:spcAft>
                <a:spcPts val="100"/>
              </a:spcAft>
              <a:buNone/>
            </a:pPr>
            <a:r>
              <a:rPr lang="en-US" sz="600" dirty="0">
                <a:solidFill>
                  <a:srgbClr val="0C111D"/>
                </a:solidFill>
                <a:latin typeface="Calibri" pitchFamily="34" charset="0"/>
                <a:ea typeface="Calibri" pitchFamily="34" charset="-122"/>
                <a:cs typeface="Calibri" pitchFamily="34" charset="-120"/>
              </a:rPr>
              <a:t> </a:t>
            </a:r>
            <a:endParaRPr lang="en-US" sz="1200" dirty="0"/>
          </a:p>
          <a:p>
            <a:pPr indent="0" marL="0">
              <a:spcAft>
                <a:spcPts val="100"/>
              </a:spcAft>
              <a:buNone/>
            </a:pPr>
            <a:r>
              <a:rPr lang="en-US" sz="1000" dirty="0">
                <a:solidFill>
                  <a:srgbClr val="64748B"/>
                </a:solidFill>
                <a:latin typeface="Calibri" pitchFamily="34" charset="0"/>
                <a:ea typeface="Calibri" pitchFamily="34" charset="-122"/>
                <a:cs typeface="Calibri" pitchFamily="34" charset="-120"/>
              </a:rPr>
              <a:t>Calm n = 1,026 days</a:t>
            </a:r>
            <a:endParaRPr lang="en-US" sz="1200" dirty="0"/>
          </a:p>
          <a:p>
            <a:pPr indent="0" marL="0">
              <a:spcAft>
                <a:spcPts val="100"/>
              </a:spcAft>
              <a:buNone/>
            </a:pPr>
            <a:r>
              <a:rPr lang="en-US" sz="1000" i="1" dirty="0">
                <a:solidFill>
                  <a:srgbClr val="64748B"/>
                </a:solidFill>
                <a:latin typeface="Calibri" pitchFamily="34" charset="0"/>
                <a:ea typeface="Calibri" pitchFamily="34" charset="-122"/>
                <a:cs typeface="Calibri" pitchFamily="34" charset="-120"/>
              </a:rPr>
              <a:t>Crisis n = 52 days</a:t>
            </a:r>
            <a:endParaRPr lang="en-US" sz="1200" dirty="0"/>
          </a:p>
        </p:txBody>
      </p:sp>
      <p:sp>
        <p:nvSpPr>
          <p:cNvPr id="9" name="Text 6"/>
          <p:cNvSpPr/>
          <p:nvPr/>
        </p:nvSpPr>
        <p:spPr>
          <a:xfrm>
            <a:off x="365760" y="4526280"/>
            <a:ext cx="8412480" cy="320040"/>
          </a:xfrm>
          <a:prstGeom prst="rect">
            <a:avLst/>
          </a:prstGeom>
          <a:noFill/>
          <a:ln/>
        </p:spPr>
        <p:txBody>
          <a:bodyPr wrap="square" lIns="0" tIns="0" rIns="0" bIns="0" rtlCol="0" anchor="ctr"/>
          <a:lstStyle/>
          <a:p>
            <a:pPr indent="0" marL="0">
              <a:buNone/>
            </a:pPr>
            <a:r>
              <a:rPr lang="en-US" sz="1100" dirty="0">
                <a:solidFill>
                  <a:srgbClr val="0C111D"/>
                </a:solidFill>
                <a:latin typeface="Calibri" pitchFamily="34" charset="0"/>
                <a:ea typeface="Calibri" pitchFamily="34" charset="-122"/>
                <a:cs typeface="Calibri" pitchFamily="34" charset="-120"/>
              </a:rPr>
              <a:t>Stress and crisis days do still lose money, </a:t>
            </a:r>
            <a:pPr indent="0" marL="0">
              <a:buNone/>
            </a:pPr>
            <a:r>
              <a:rPr lang="en-US" sz="1100" dirty="0">
                <a:solidFill>
                  <a:srgbClr val="0C111D"/>
                </a:solidFill>
                <a:latin typeface="Calibri" pitchFamily="34" charset="0"/>
                <a:ea typeface="Calibri" pitchFamily="34" charset="-122"/>
                <a:cs typeface="Calibri" pitchFamily="34" charset="-120"/>
              </a:rPr>
              <a:t>but they lose half or zero of what an un-gated 1.0× book would lose. </a:t>
            </a:r>
            <a:pPr indent="0" marL="0">
              <a:buNone/>
            </a:pPr>
            <a:r>
              <a:rPr lang="en-US" sz="1100" i="1" dirty="0">
                <a:solidFill>
                  <a:srgbClr val="64748B"/>
                </a:solidFill>
                <a:latin typeface="Calibri" pitchFamily="34" charset="0"/>
                <a:ea typeface="Calibri" pitchFamily="34" charset="-122"/>
                <a:cs typeface="Calibri" pitchFamily="34" charset="-120"/>
              </a:rPr>
              <a:t>The gate's value is shrinking exposure, not turning negative into positive.</a:t>
            </a:r>
            <a:endParaRPr lang="en-US" sz="1100" dirty="0"/>
          </a:p>
        </p:txBody>
      </p:sp>
      <p:sp>
        <p:nvSpPr>
          <p:cNvPr id="10" name="Text 7"/>
          <p:cNvSpPr/>
          <p:nvPr/>
        </p:nvSpPr>
        <p:spPr>
          <a:xfrm>
            <a:off x="457200" y="4846320"/>
            <a:ext cx="68580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Sizing, Not Signaling  ·  Pavlos Giannakis  ·  FINM 33150 (Spring 2026)</a:t>
            </a:r>
            <a:endParaRPr lang="en-US" sz="900" dirty="0"/>
          </a:p>
        </p:txBody>
      </p:sp>
      <p:sp>
        <p:nvSpPr>
          <p:cNvPr id="11" name="Text 8"/>
          <p:cNvSpPr/>
          <p:nvPr/>
        </p:nvSpPr>
        <p:spPr>
          <a:xfrm>
            <a:off x="8229600" y="4846320"/>
            <a:ext cx="64008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 /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indent="0" marL="0">
              <a:buNone/>
            </a:pPr>
            <a:r>
              <a:rPr lang="en-US" sz="2800" b="1" dirty="0">
                <a:solidFill>
                  <a:srgbClr val="1A3A5F"/>
                </a:solidFill>
                <a:latin typeface="Calibri" pitchFamily="34" charset="0"/>
                <a:ea typeface="Calibri" pitchFamily="34" charset="-122"/>
                <a:cs typeface="Calibri" pitchFamily="34" charset="-120"/>
              </a:rPr>
              <a:t>What this project shows</a:t>
            </a:r>
            <a:endParaRPr lang="en-US" sz="2800" dirty="0"/>
          </a:p>
        </p:txBody>
      </p:sp>
      <p:sp>
        <p:nvSpPr>
          <p:cNvPr id="3" name="Text 1"/>
          <p:cNvSpPr/>
          <p:nvPr/>
        </p:nvSpPr>
        <p:spPr>
          <a:xfrm>
            <a:off x="457200" y="713232"/>
            <a:ext cx="8229600" cy="292608"/>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Option data was more useful as a risk input than as a directional signal</a:t>
            </a:r>
            <a:endParaRPr lang="en-US" sz="1300" dirty="0"/>
          </a:p>
        </p:txBody>
      </p:sp>
      <p:sp>
        <p:nvSpPr>
          <p:cNvPr id="4" name="Shape 2"/>
          <p:cNvSpPr/>
          <p:nvPr/>
        </p:nvSpPr>
        <p:spPr>
          <a:xfrm>
            <a:off x="457200" y="1280160"/>
            <a:ext cx="2651760" cy="3337560"/>
          </a:xfrm>
          <a:prstGeom prst="rect">
            <a:avLst/>
          </a:prstGeom>
          <a:solidFill>
            <a:srgbClr val="FFFFFF"/>
          </a:solidFill>
          <a:ln w="6350">
            <a:solidFill>
              <a:srgbClr val="E5E7EB"/>
            </a:solidFill>
            <a:prstDash val="solid"/>
          </a:ln>
        </p:spPr>
      </p:sp>
      <p:sp>
        <p:nvSpPr>
          <p:cNvPr id="5" name="Shape 3"/>
          <p:cNvSpPr/>
          <p:nvPr/>
        </p:nvSpPr>
        <p:spPr>
          <a:xfrm>
            <a:off x="457200" y="1280160"/>
            <a:ext cx="2651760" cy="73152"/>
          </a:xfrm>
          <a:prstGeom prst="rect">
            <a:avLst/>
          </a:prstGeom>
          <a:solidFill>
            <a:srgbClr val="1A3A5F"/>
          </a:solidFill>
          <a:ln w="12700">
            <a:solidFill>
              <a:srgbClr val="1A3A5F"/>
            </a:solidFill>
            <a:prstDash val="solid"/>
          </a:ln>
        </p:spPr>
      </p:sp>
      <p:sp>
        <p:nvSpPr>
          <p:cNvPr id="6" name="Text 4"/>
          <p:cNvSpPr/>
          <p:nvPr/>
        </p:nvSpPr>
        <p:spPr>
          <a:xfrm>
            <a:off x="640080" y="1417320"/>
            <a:ext cx="548640" cy="594360"/>
          </a:xfrm>
          <a:prstGeom prst="rect">
            <a:avLst/>
          </a:prstGeom>
          <a:noFill/>
          <a:ln/>
        </p:spPr>
        <p:txBody>
          <a:bodyPr wrap="square" lIns="0" tIns="0" rIns="0" bIns="0" rtlCol="0" anchor="ctr"/>
          <a:lstStyle/>
          <a:p>
            <a:pPr indent="0" marL="0">
              <a:buNone/>
            </a:pPr>
            <a:r>
              <a:rPr lang="en-US" sz="3600" b="1" dirty="0">
                <a:solidFill>
                  <a:srgbClr val="1A3A5F"/>
                </a:solidFill>
                <a:latin typeface="Calibri" pitchFamily="34" charset="0"/>
                <a:ea typeface="Calibri" pitchFamily="34" charset="-122"/>
                <a:cs typeface="Calibri" pitchFamily="34" charset="-120"/>
              </a:rPr>
              <a:t>1</a:t>
            </a:r>
            <a:endParaRPr lang="en-US" sz="3600" dirty="0"/>
          </a:p>
        </p:txBody>
      </p:sp>
      <p:sp>
        <p:nvSpPr>
          <p:cNvPr id="7" name="Text 5"/>
          <p:cNvSpPr/>
          <p:nvPr/>
        </p:nvSpPr>
        <p:spPr>
          <a:xfrm>
            <a:off x="640080" y="2011680"/>
            <a:ext cx="2286000" cy="365760"/>
          </a:xfrm>
          <a:prstGeom prst="rect">
            <a:avLst/>
          </a:prstGeom>
          <a:noFill/>
          <a:ln/>
        </p:spPr>
        <p:txBody>
          <a:bodyPr wrap="square" lIns="0" tIns="0" rIns="0" bIns="0" rtlCol="0" anchor="ctr"/>
          <a:lstStyle/>
          <a:p>
            <a:pPr indent="0" marL="0">
              <a:buNone/>
            </a:pPr>
            <a:r>
              <a:rPr lang="en-US" sz="1500" b="1" dirty="0">
                <a:solidFill>
                  <a:srgbClr val="0C111D"/>
                </a:solidFill>
                <a:latin typeface="Calibri" pitchFamily="34" charset="0"/>
                <a:ea typeface="Calibri" pitchFamily="34" charset="-122"/>
                <a:cs typeface="Calibri" pitchFamily="34" charset="-120"/>
              </a:rPr>
              <a:t>Sizing beat signaling</a:t>
            </a:r>
            <a:endParaRPr lang="en-US" sz="1500" dirty="0"/>
          </a:p>
        </p:txBody>
      </p:sp>
      <p:sp>
        <p:nvSpPr>
          <p:cNvPr id="8" name="Text 6"/>
          <p:cNvSpPr/>
          <p:nvPr/>
        </p:nvSpPr>
        <p:spPr>
          <a:xfrm>
            <a:off x="640080" y="2423160"/>
            <a:ext cx="2286000" cy="2103120"/>
          </a:xfrm>
          <a:prstGeom prst="rect">
            <a:avLst/>
          </a:prstGeom>
          <a:noFill/>
          <a:ln/>
        </p:spPr>
        <p:txBody>
          <a:bodyPr wrap="square" lIns="0" tIns="0" rIns="0" bIns="0" rtlCol="0" anchor="ctr"/>
          <a:lstStyle/>
          <a:p>
            <a:pPr indent="0" marL="0">
              <a:buNone/>
            </a:pPr>
            <a:r>
              <a:rPr lang="en-US" sz="1150" dirty="0">
                <a:solidFill>
                  <a:srgbClr val="0C111D"/>
                </a:solidFill>
                <a:latin typeface="Calibri" pitchFamily="34" charset="0"/>
                <a:ea typeface="Calibri" pitchFamily="34" charset="-122"/>
                <a:cs typeface="Calibri" pitchFamily="34" charset="-120"/>
              </a:rPr>
              <a:t>The earlier demo used IV term-structure kinks as a directional signal — it failed out-of-sample. Repurposing the same data as a risk-sizing input produced a held-out Sharpe that decayed but stayed positive.</a:t>
            </a:r>
            <a:endParaRPr lang="en-US" sz="1150" dirty="0"/>
          </a:p>
        </p:txBody>
      </p:sp>
      <p:sp>
        <p:nvSpPr>
          <p:cNvPr id="9" name="Shape 7"/>
          <p:cNvSpPr/>
          <p:nvPr/>
        </p:nvSpPr>
        <p:spPr>
          <a:xfrm>
            <a:off x="3246120" y="1280160"/>
            <a:ext cx="2651760" cy="3337560"/>
          </a:xfrm>
          <a:prstGeom prst="rect">
            <a:avLst/>
          </a:prstGeom>
          <a:solidFill>
            <a:srgbClr val="FFFFFF"/>
          </a:solidFill>
          <a:ln w="6350">
            <a:solidFill>
              <a:srgbClr val="E5E7EB"/>
            </a:solidFill>
            <a:prstDash val="solid"/>
          </a:ln>
        </p:spPr>
      </p:sp>
      <p:sp>
        <p:nvSpPr>
          <p:cNvPr id="10" name="Shape 8"/>
          <p:cNvSpPr/>
          <p:nvPr/>
        </p:nvSpPr>
        <p:spPr>
          <a:xfrm>
            <a:off x="3246120" y="1280160"/>
            <a:ext cx="2651760" cy="73152"/>
          </a:xfrm>
          <a:prstGeom prst="rect">
            <a:avLst/>
          </a:prstGeom>
          <a:solidFill>
            <a:srgbClr val="F4B400"/>
          </a:solidFill>
          <a:ln w="12700">
            <a:solidFill>
              <a:srgbClr val="F4B400"/>
            </a:solidFill>
            <a:prstDash val="solid"/>
          </a:ln>
        </p:spPr>
      </p:sp>
      <p:sp>
        <p:nvSpPr>
          <p:cNvPr id="11" name="Text 9"/>
          <p:cNvSpPr/>
          <p:nvPr/>
        </p:nvSpPr>
        <p:spPr>
          <a:xfrm>
            <a:off x="3429000" y="1417320"/>
            <a:ext cx="548640" cy="594360"/>
          </a:xfrm>
          <a:prstGeom prst="rect">
            <a:avLst/>
          </a:prstGeom>
          <a:noFill/>
          <a:ln/>
        </p:spPr>
        <p:txBody>
          <a:bodyPr wrap="square" lIns="0" tIns="0" rIns="0" bIns="0" rtlCol="0" anchor="ctr"/>
          <a:lstStyle/>
          <a:p>
            <a:pPr indent="0" marL="0">
              <a:buNone/>
            </a:pPr>
            <a:r>
              <a:rPr lang="en-US" sz="3600" b="1" dirty="0">
                <a:solidFill>
                  <a:srgbClr val="F4B400"/>
                </a:solidFill>
                <a:latin typeface="Calibri" pitchFamily="34" charset="0"/>
                <a:ea typeface="Calibri" pitchFamily="34" charset="-122"/>
                <a:cs typeface="Calibri" pitchFamily="34" charset="-120"/>
              </a:rPr>
              <a:t>2</a:t>
            </a:r>
            <a:endParaRPr lang="en-US" sz="3600" dirty="0"/>
          </a:p>
        </p:txBody>
      </p:sp>
      <p:sp>
        <p:nvSpPr>
          <p:cNvPr id="12" name="Text 10"/>
          <p:cNvSpPr/>
          <p:nvPr/>
        </p:nvSpPr>
        <p:spPr>
          <a:xfrm>
            <a:off x="3429000" y="2011680"/>
            <a:ext cx="2286000" cy="365760"/>
          </a:xfrm>
          <a:prstGeom prst="rect">
            <a:avLst/>
          </a:prstGeom>
          <a:noFill/>
          <a:ln/>
        </p:spPr>
        <p:txBody>
          <a:bodyPr wrap="square" lIns="0" tIns="0" rIns="0" bIns="0" rtlCol="0" anchor="ctr"/>
          <a:lstStyle/>
          <a:p>
            <a:pPr indent="0" marL="0">
              <a:buNone/>
            </a:pPr>
            <a:r>
              <a:rPr lang="en-US" sz="1500" b="1" dirty="0">
                <a:solidFill>
                  <a:srgbClr val="0C111D"/>
                </a:solidFill>
                <a:latin typeface="Calibri" pitchFamily="34" charset="0"/>
                <a:ea typeface="Calibri" pitchFamily="34" charset="-122"/>
                <a:cs typeface="Calibri" pitchFamily="34" charset="-120"/>
              </a:rPr>
              <a:t>Smoother path, lower upside</a:t>
            </a:r>
            <a:endParaRPr lang="en-US" sz="1500" dirty="0"/>
          </a:p>
        </p:txBody>
      </p:sp>
      <p:sp>
        <p:nvSpPr>
          <p:cNvPr id="13" name="Text 11"/>
          <p:cNvSpPr/>
          <p:nvPr/>
        </p:nvSpPr>
        <p:spPr>
          <a:xfrm>
            <a:off x="3429000" y="2423160"/>
            <a:ext cx="2286000" cy="2103120"/>
          </a:xfrm>
          <a:prstGeom prst="rect">
            <a:avLst/>
          </a:prstGeom>
          <a:noFill/>
          <a:ln/>
        </p:spPr>
        <p:txBody>
          <a:bodyPr wrap="square" lIns="0" tIns="0" rIns="0" bIns="0" rtlCol="0" anchor="ctr"/>
          <a:lstStyle/>
          <a:p>
            <a:pPr indent="0" marL="0">
              <a:buNone/>
            </a:pPr>
            <a:r>
              <a:rPr lang="en-US" sz="1150" dirty="0">
                <a:solidFill>
                  <a:srgbClr val="0C111D"/>
                </a:solidFill>
                <a:latin typeface="Calibri" pitchFamily="34" charset="0"/>
                <a:ea typeface="Calibri" pitchFamily="34" charset="-122"/>
                <a:cs typeface="Calibri" pitchFamily="34" charset="-120"/>
              </a:rPr>
              <a:t>The strategy ends at USD 1.48M vs USD 2.64M for the equal-weight benchmark. In exchange, max drawdown is -14.5% vs about -45%. Useful for a drawdown-sensitive allocator, not for terminal-wealth maximisers.</a:t>
            </a:r>
            <a:endParaRPr lang="en-US" sz="1150" dirty="0"/>
          </a:p>
        </p:txBody>
      </p:sp>
      <p:sp>
        <p:nvSpPr>
          <p:cNvPr id="14" name="Shape 12"/>
          <p:cNvSpPr/>
          <p:nvPr/>
        </p:nvSpPr>
        <p:spPr>
          <a:xfrm>
            <a:off x="6035040" y="1280160"/>
            <a:ext cx="2651760" cy="3337560"/>
          </a:xfrm>
          <a:prstGeom prst="rect">
            <a:avLst/>
          </a:prstGeom>
          <a:solidFill>
            <a:srgbClr val="FFFFFF"/>
          </a:solidFill>
          <a:ln w="6350">
            <a:solidFill>
              <a:srgbClr val="E5E7EB"/>
            </a:solidFill>
            <a:prstDash val="solid"/>
          </a:ln>
        </p:spPr>
      </p:sp>
      <p:sp>
        <p:nvSpPr>
          <p:cNvPr id="15" name="Shape 13"/>
          <p:cNvSpPr/>
          <p:nvPr/>
        </p:nvSpPr>
        <p:spPr>
          <a:xfrm>
            <a:off x="6035040" y="1280160"/>
            <a:ext cx="2651760" cy="73152"/>
          </a:xfrm>
          <a:prstGeom prst="rect">
            <a:avLst/>
          </a:prstGeom>
          <a:solidFill>
            <a:srgbClr val="1B7C89"/>
          </a:solidFill>
          <a:ln w="12700">
            <a:solidFill>
              <a:srgbClr val="1B7C89"/>
            </a:solidFill>
            <a:prstDash val="solid"/>
          </a:ln>
        </p:spPr>
      </p:sp>
      <p:sp>
        <p:nvSpPr>
          <p:cNvPr id="16" name="Text 14"/>
          <p:cNvSpPr/>
          <p:nvPr/>
        </p:nvSpPr>
        <p:spPr>
          <a:xfrm>
            <a:off x="6217920" y="1417320"/>
            <a:ext cx="548640" cy="594360"/>
          </a:xfrm>
          <a:prstGeom prst="rect">
            <a:avLst/>
          </a:prstGeom>
          <a:noFill/>
          <a:ln/>
        </p:spPr>
        <p:txBody>
          <a:bodyPr wrap="square" lIns="0" tIns="0" rIns="0" bIns="0" rtlCol="0" anchor="ctr"/>
          <a:lstStyle/>
          <a:p>
            <a:pPr indent="0" marL="0">
              <a:buNone/>
            </a:pPr>
            <a:r>
              <a:rPr lang="en-US" sz="3600" b="1" dirty="0">
                <a:solidFill>
                  <a:srgbClr val="1B7C89"/>
                </a:solidFill>
                <a:latin typeface="Calibri" pitchFamily="34" charset="0"/>
                <a:ea typeface="Calibri" pitchFamily="34" charset="-122"/>
                <a:cs typeface="Calibri" pitchFamily="34" charset="-120"/>
              </a:rPr>
              <a:t>3</a:t>
            </a:r>
            <a:endParaRPr lang="en-US" sz="3600" dirty="0"/>
          </a:p>
        </p:txBody>
      </p:sp>
      <p:sp>
        <p:nvSpPr>
          <p:cNvPr id="17" name="Text 15"/>
          <p:cNvSpPr/>
          <p:nvPr/>
        </p:nvSpPr>
        <p:spPr>
          <a:xfrm>
            <a:off x="6217920" y="2011680"/>
            <a:ext cx="2286000" cy="365760"/>
          </a:xfrm>
          <a:prstGeom prst="rect">
            <a:avLst/>
          </a:prstGeom>
          <a:noFill/>
          <a:ln/>
        </p:spPr>
        <p:txBody>
          <a:bodyPr wrap="square" lIns="0" tIns="0" rIns="0" bIns="0" rtlCol="0" anchor="ctr"/>
          <a:lstStyle/>
          <a:p>
            <a:pPr indent="0" marL="0">
              <a:buNone/>
            </a:pPr>
            <a:r>
              <a:rPr lang="en-US" sz="1500" b="1" dirty="0">
                <a:solidFill>
                  <a:srgbClr val="0C111D"/>
                </a:solidFill>
                <a:latin typeface="Calibri" pitchFamily="34" charset="0"/>
                <a:ea typeface="Calibri" pitchFamily="34" charset="-122"/>
                <a:cs typeface="Calibri" pitchFamily="34" charset="-120"/>
              </a:rPr>
              <a:t>The gate did its job</a:t>
            </a:r>
            <a:endParaRPr lang="en-US" sz="1500" dirty="0"/>
          </a:p>
        </p:txBody>
      </p:sp>
      <p:sp>
        <p:nvSpPr>
          <p:cNvPr id="18" name="Text 16"/>
          <p:cNvSpPr/>
          <p:nvPr/>
        </p:nvSpPr>
        <p:spPr>
          <a:xfrm>
            <a:off x="6217920" y="2423160"/>
            <a:ext cx="2286000" cy="2103120"/>
          </a:xfrm>
          <a:prstGeom prst="rect">
            <a:avLst/>
          </a:prstGeom>
          <a:noFill/>
          <a:ln/>
        </p:spPr>
        <p:txBody>
          <a:bodyPr wrap="square" lIns="0" tIns="0" rIns="0" bIns="0" rtlCol="0" anchor="ctr"/>
          <a:lstStyle/>
          <a:p>
            <a:pPr indent="0" marL="0">
              <a:buNone/>
            </a:pPr>
            <a:r>
              <a:rPr lang="en-US" sz="1150" dirty="0">
                <a:solidFill>
                  <a:srgbClr val="0C111D"/>
                </a:solidFill>
                <a:latin typeface="Calibri" pitchFamily="34" charset="0"/>
                <a:ea typeface="Calibri" pitchFamily="34" charset="-122"/>
                <a:cs typeface="Calibri" pitchFamily="34" charset="-120"/>
              </a:rPr>
              <a:t>The regime gate cut gross exposure in stress and shut it to zero in crisis. The book was effectively flat through the worst of 2008-09 and 2020. Most of the drawdown reduction is exposure scaling, not stock selection.</a:t>
            </a:r>
            <a:endParaRPr lang="en-US" sz="1150" dirty="0"/>
          </a:p>
        </p:txBody>
      </p:sp>
      <p:sp>
        <p:nvSpPr>
          <p:cNvPr id="19" name="Text 17"/>
          <p:cNvSpPr/>
          <p:nvPr/>
        </p:nvSpPr>
        <p:spPr>
          <a:xfrm>
            <a:off x="457200" y="4846320"/>
            <a:ext cx="68580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Sizing, Not Signaling  ·  Pavlos Giannakis  ·  FINM 33150 (Spring 2026)</a:t>
            </a:r>
            <a:endParaRPr lang="en-US" sz="900" dirty="0"/>
          </a:p>
        </p:txBody>
      </p:sp>
      <p:sp>
        <p:nvSpPr>
          <p:cNvPr id="20" name="Text 18"/>
          <p:cNvSpPr/>
          <p:nvPr/>
        </p:nvSpPr>
        <p:spPr>
          <a:xfrm>
            <a:off x="8229600" y="4846320"/>
            <a:ext cx="64008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 /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F33"/>
        </a:solidFill>
      </p:bgPr>
    </p:bg>
    <p:spTree>
      <p:nvGrpSpPr>
        <p:cNvPr id="1" name=""/>
        <p:cNvGrpSpPr/>
        <p:nvPr/>
      </p:nvGrpSpPr>
      <p:grpSpPr>
        <a:xfrm>
          <a:off x="0" y="0"/>
          <a:ext cx="0" cy="0"/>
          <a:chOff x="0" y="0"/>
          <a:chExt cx="0" cy="0"/>
        </a:xfrm>
      </p:grpSpPr>
      <p:sp>
        <p:nvSpPr>
          <p:cNvPr id="2" name="Shape 0"/>
          <p:cNvSpPr/>
          <p:nvPr/>
        </p:nvSpPr>
        <p:spPr>
          <a:xfrm>
            <a:off x="457200" y="365760"/>
            <a:ext cx="1097280" cy="45720"/>
          </a:xfrm>
          <a:prstGeom prst="rect">
            <a:avLst/>
          </a:prstGeom>
          <a:solidFill>
            <a:srgbClr val="F4B400"/>
          </a:solidFill>
          <a:ln w="12700">
            <a:solidFill>
              <a:srgbClr val="F4B400"/>
            </a:solidFill>
            <a:prstDash val="solid"/>
          </a:ln>
        </p:spPr>
      </p:sp>
      <p:sp>
        <p:nvSpPr>
          <p:cNvPr id="3" name="Text 1"/>
          <p:cNvSpPr/>
          <p:nvPr/>
        </p:nvSpPr>
        <p:spPr>
          <a:xfrm>
            <a:off x="457200" y="502920"/>
            <a:ext cx="8229600" cy="54864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Limitations &amp; references</a:t>
            </a:r>
            <a:endParaRPr lang="en-US" sz="3200" dirty="0"/>
          </a:p>
        </p:txBody>
      </p:sp>
      <p:sp>
        <p:nvSpPr>
          <p:cNvPr id="4" name="Text 2"/>
          <p:cNvSpPr/>
          <p:nvPr/>
        </p:nvSpPr>
        <p:spPr>
          <a:xfrm>
            <a:off x="457200" y="1234440"/>
            <a:ext cx="4572000" cy="365760"/>
          </a:xfrm>
          <a:prstGeom prst="rect">
            <a:avLst/>
          </a:prstGeom>
          <a:noFill/>
          <a:ln/>
        </p:spPr>
        <p:txBody>
          <a:bodyPr wrap="square" lIns="0" tIns="0" rIns="0" bIns="0" rtlCol="0" anchor="ctr"/>
          <a:lstStyle/>
          <a:p>
            <a:pPr indent="0" marL="0">
              <a:buNone/>
            </a:pPr>
            <a:r>
              <a:rPr lang="en-US" sz="1600" b="1" dirty="0">
                <a:solidFill>
                  <a:srgbClr val="F4B400"/>
                </a:solidFill>
                <a:latin typeface="Calibri" pitchFamily="34" charset="0"/>
                <a:ea typeface="Calibri" pitchFamily="34" charset="-122"/>
                <a:cs typeface="Calibri" pitchFamily="34" charset="-120"/>
              </a:rPr>
              <a:t>Limitations</a:t>
            </a:r>
            <a:endParaRPr lang="en-US" sz="1600" dirty="0"/>
          </a:p>
        </p:txBody>
      </p:sp>
      <p:sp>
        <p:nvSpPr>
          <p:cNvPr id="5" name="Text 3"/>
          <p:cNvSpPr/>
          <p:nvPr/>
        </p:nvSpPr>
        <p:spPr>
          <a:xfrm>
            <a:off x="457200" y="1600200"/>
            <a:ext cx="4572000" cy="27432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ETF universe is fixed at end-2017 and not refreshed.</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Weekly rebalance is one design point; daily or monthly cadences would change turnover and costs.</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Four discrete regime buckets — smoother exposure functions are a natural extension.</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Crisis bucket has only 52 observations; per-regime statistics there are descriptive, not estimated.</a:t>
            </a:r>
            <a:endParaRPr lang="en-US" sz="1200" dirty="0"/>
          </a:p>
        </p:txBody>
      </p:sp>
      <p:sp>
        <p:nvSpPr>
          <p:cNvPr id="6" name="Text 4"/>
          <p:cNvSpPr/>
          <p:nvPr/>
        </p:nvSpPr>
        <p:spPr>
          <a:xfrm>
            <a:off x="5303520" y="1234440"/>
            <a:ext cx="3657600" cy="365760"/>
          </a:xfrm>
          <a:prstGeom prst="rect">
            <a:avLst/>
          </a:prstGeom>
          <a:noFill/>
          <a:ln/>
        </p:spPr>
        <p:txBody>
          <a:bodyPr wrap="square" lIns="0" tIns="0" rIns="0" bIns="0" rtlCol="0" anchor="ctr"/>
          <a:lstStyle/>
          <a:p>
            <a:pPr indent="0" marL="0">
              <a:buNone/>
            </a:pPr>
            <a:r>
              <a:rPr lang="en-US" sz="1600" b="1" dirty="0">
                <a:solidFill>
                  <a:srgbClr val="F4B400"/>
                </a:solidFill>
                <a:latin typeface="Calibri" pitchFamily="34" charset="0"/>
                <a:ea typeface="Calibri" pitchFamily="34" charset="-122"/>
                <a:cs typeface="Calibri" pitchFamily="34" charset="-120"/>
              </a:rPr>
              <a:t>Readings</a:t>
            </a:r>
            <a:endParaRPr lang="en-US" sz="1600" dirty="0"/>
          </a:p>
        </p:txBody>
      </p:sp>
      <p:sp>
        <p:nvSpPr>
          <p:cNvPr id="7" name="Text 5"/>
          <p:cNvSpPr/>
          <p:nvPr/>
        </p:nvSpPr>
        <p:spPr>
          <a:xfrm>
            <a:off x="5303520" y="1600200"/>
            <a:ext cx="3657600" cy="22860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Harvey &amp; Liu (2015)</a:t>
            </a:r>
            <a:endParaRPr lang="en-US" sz="1300" dirty="0"/>
          </a:p>
          <a:p>
            <a:pPr indent="0" marL="0">
              <a:buNone/>
            </a:pPr>
            <a:r>
              <a:rPr lang="en-US" sz="1100" i="1" dirty="0">
                <a:solidFill>
                  <a:srgbClr val="CADCFC"/>
                </a:solidFill>
                <a:latin typeface="Calibri" pitchFamily="34" charset="0"/>
                <a:ea typeface="Calibri" pitchFamily="34" charset="-122"/>
                <a:cs typeface="Calibri" pitchFamily="34" charset="-120"/>
              </a:rPr>
              <a:t>Backtesting; multiple-testing concerns in strategy evaluation.</a:t>
            </a:r>
            <a:endParaRPr lang="en-US" sz="1300" dirty="0"/>
          </a:p>
          <a:p>
            <a:pPr indent="0" marL="0">
              <a:buNone/>
            </a:pPr>
            <a:r>
              <a:rPr lang="en-US" sz="400" dirty="0">
                <a:solidFill>
                  <a:srgbClr val="FFFFFF"/>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FFFFFF"/>
                </a:solidFill>
                <a:latin typeface="Calibri" pitchFamily="34" charset="0"/>
                <a:ea typeface="Calibri" pitchFamily="34" charset="-122"/>
                <a:cs typeface="Calibri" pitchFamily="34" charset="-120"/>
              </a:rPr>
              <a:t>Johnson, Naik, Page, Pedersen &amp; Sapra (PIMCO, 2013)</a:t>
            </a:r>
            <a:endParaRPr lang="en-US" sz="1300" dirty="0"/>
          </a:p>
          <a:p>
            <a:pPr indent="0" marL="0">
              <a:buNone/>
            </a:pPr>
            <a:r>
              <a:rPr lang="en-US" sz="1100" i="1" dirty="0">
                <a:solidFill>
                  <a:srgbClr val="CADCFC"/>
                </a:solidFill>
                <a:latin typeface="Calibri" pitchFamily="34" charset="0"/>
                <a:ea typeface="Calibri" pitchFamily="34" charset="-122"/>
                <a:cs typeface="Calibri" pitchFamily="34" charset="-120"/>
              </a:rPr>
              <a:t>The Stock-Bond Correlation: instability of cross-asset correlations across regimes.</a:t>
            </a:r>
            <a:endParaRPr lang="en-US" sz="1300" dirty="0"/>
          </a:p>
        </p:txBody>
      </p:sp>
      <p:sp>
        <p:nvSpPr>
          <p:cNvPr id="8" name="Text 6">
            <a:hlinkClick r:id="rId1" tooltip=""/>
          </p:cNvPr>
          <p:cNvSpPr/>
          <p:nvPr/>
        </p:nvSpPr>
        <p:spPr>
          <a:xfrm>
            <a:off x="5303520" y="4160520"/>
            <a:ext cx="3657600" cy="274320"/>
          </a:xfrm>
          <a:prstGeom prst="rect">
            <a:avLst/>
          </a:prstGeom>
          <a:noFill/>
          <a:ln/>
        </p:spPr>
        <p:txBody>
          <a:bodyPr wrap="square" lIns="0" tIns="0" rIns="0" bIns="0" rtlCol="0" anchor="ctr"/>
          <a:lstStyle/>
          <a:p>
            <a:pPr indent="0" marL="0">
              <a:buNone/>
            </a:pPr>
            <a:r>
              <a:rPr lang="en-US" sz="1100" i="1" u="sng" dirty="0">
                <a:solidFill>
                  <a:srgbClr val="F4B400"/>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github.com/paulgiann/finm33150-final-project</a:t>
            </a:r>
            <a:endParaRPr lang="en-US" sz="1100" dirty="0"/>
          </a:p>
        </p:txBody>
      </p:sp>
      <p:sp>
        <p:nvSpPr>
          <p:cNvPr id="9" name="Text 7"/>
          <p:cNvSpPr/>
          <p:nvPr/>
        </p:nvSpPr>
        <p:spPr>
          <a:xfrm>
            <a:off x="457200" y="4160520"/>
            <a:ext cx="4572000" cy="457200"/>
          </a:xfrm>
          <a:prstGeom prst="rect">
            <a:avLst/>
          </a:prstGeom>
          <a:noFill/>
          <a:ln/>
        </p:spPr>
        <p:txBody>
          <a:bodyPr wrap="square" lIns="0" tIns="0" rIns="0" bIns="0" rtlCol="0" anchor="ctr"/>
          <a:lstStyle/>
          <a:p>
            <a:pPr indent="0" marL="0">
              <a:buNone/>
            </a:pPr>
            <a:r>
              <a:rPr lang="en-US" sz="2000" b="1" dirty="0">
                <a:solidFill>
                  <a:srgbClr val="F4B400"/>
                </a:solidFill>
                <a:latin typeface="Calibri" pitchFamily="34" charset="0"/>
                <a:ea typeface="Calibri" pitchFamily="34" charset="-122"/>
                <a:cs typeface="Calibri" pitchFamily="34" charset="-120"/>
              </a:rPr>
              <a:t>Thank you.</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Sizing, Not Signaling — FINM 33150 Final Project</dc:title>
  <dc:subject>PptxGenJS Presentation</dc:subject>
  <dc:creator>Pavlos Giannakis</dc:creator>
  <cp:lastModifiedBy>Pavlos Giannakis</cp:lastModifiedBy>
  <cp:revision>1</cp:revision>
  <dcterms:created xsi:type="dcterms:W3CDTF">2026-05-26T20:12:06Z</dcterms:created>
  <dcterms:modified xsi:type="dcterms:W3CDTF">2026-05-26T20:12:06Z</dcterms:modified>
</cp:coreProperties>
</file>